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C1A3A"/>
                </a:solidFill>
              </a:rPr>
              <a:t>Lakeshore Enterprise Finance &amp; Treasury Modernization: Kyriba Rollout, Corporate Controls, Reporting Rationalization, Vendor Optimization &amp; Value Realization</a:t>
            </a:r>
          </a:p>
          <a:p>
            <a:r>
              <a:rPr sz="1100">
                <a:solidFill>
                  <a:srgbClr val="6B7280"/>
                </a:solidFill>
              </a:rPr>
              <a:t>SYNTHETIC — LAKESHORE PILOT — NOT REAL DATA — ABARVA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Lakeshore Enterprise Finance &amp; Treasury Modernization: Kyriba Rollout, Corporate Controls, Reporting Rationalization, Vendor Optimization &amp; Value Realization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C1A3A"/>
                </a:solidFill>
              </a:rPr>
              <a:t>• A board deck produced by the Moves Expert Kernel for this Move. The section structure is inherited from the curated Domain Function Pack; every figure is the kernel’s — value is a planning range, unrecorded metrics are named seed gaps, and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KILL — the Move does not pay back on current assumptions.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C1A3A"/>
                </a:solidFill>
              </a:rPr>
              <a:t>• Base-case net return is not positive — the Move does not pay back on current assumptions.</a:t>
            </a:r>
          </a:p>
          <a:p>
            <a:r>
              <a:rPr sz="1300">
                <a:solidFill>
                  <a:srgbClr val="0C1A3A"/>
                </a:solidFill>
              </a:rPr>
              <a:t>• Baseline: 4 of 12 Function-Pack operating metrics are recorded by this Move (coverage 33%). The remaining 8 are precise, named seed gaps — not fabricated values.</a:t>
            </a:r>
          </a:p>
          <a:p>
            <a:r>
              <a:rPr sz="1300">
                <a:solidFill>
                  <a:srgbClr val="0C1A3A"/>
                </a:solidFill>
              </a:rPr>
              <a:t>• Assumptions: 13 named assumptions derived from the Function Pack (haircut factors, value narrative, evidence anchors, pain themes); 12 are seed-gap proxies owned by a "to be confirmed with the tenant" placeholder — no human owner is fabrica</a:t>
            </a:r>
          </a:p>
          <a:p>
            <a:r>
              <a:rPr sz="1300">
                <a:solidFill>
                  <a:srgbClr val="0C1A3A"/>
                </a:solidFill>
              </a:rPr>
              <a:t>• Value: the gross value range is built from the Function Pack's curated value benchmarks — labelled planning ranges, NOT this tenant's own measured unit economics. It is carried as a proxy, so the kernel honestly blocks a claimable dollar pa</a:t>
            </a:r>
          </a:p>
          <a:p>
            <a:r>
              <a:rPr sz="1300">
                <a:solidFill>
                  <a:srgbClr val="0C1A3A"/>
                </a:solidFill>
              </a:rPr>
              <a:t>• Value: 8 operating metric(s) needed to ground the forecast are seed-gapped — the value range is a planning proxy, not a forecast, until they are closed.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This deck inherits the curated Finance, treasury &amp; ALM business-case outline — 8 sections, structure not improvised.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C1A3A"/>
                </a:solidFill>
              </a:rPr>
              <a:t>• This Costed Business-Case Pack inherits the curated Finance, treasury &amp;amp; ALM business-case outline from the bound Domain Function Pack. The agent does not improvise the structure — every section below is a curated, function-calibrated he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402336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297180">
                <a:tc>
                  <a:txBody>
                    <a:bodyPr/>
                    <a:lstStyle/>
                    <a:p>
                      <a:r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Section heading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Curated guidance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Executive answer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State the funding ask, the headline value separated into margin and return, capital and funding efficiency, and finance productivity, the time-to-value band, and the go / hold recommendation in one read.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Baseline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Anchor every value claim to a measured baseline operating metric — NIM, cost of funds, forecast accuracy, cycle time, buffer levels, return on equity. Where a baseline is a seed gap, say so and state what closing it requires before funding.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Scenario-conditional value forecast and haircuts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Build the forecast from the value-model benchmark ranges, then apply each dominant haircut factor — rate-environment contingency, regulatory floors and risk-appetite ceilings, data and model readiness, governance and adoption — explicitly and show the haircut math. Present rate-dependent gains as scenario-conditional, never certain.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 and effort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 the build, the integration to the ALM, general-ledger, FP&amp;A, treasury, and liquidity systems, the model risk-management and validation overhead, and the operating-model change in the finance and treasury organisation.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Sensitivity and downside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Show how the case moves under an adverse rate scenario, tighter regulatory constraints, and partial adoption. State the downside the CFO and board are underwriting.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Model governance posture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State how any ALM, capital, forecasting, or behavioural model is governed under the model risk-management framework, validated, and made explainable to the board and examiners.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Kill criteria and conditions to proceed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Name the conditions under which the Move should not be funded and the evidence — data lineage, model validation, governance sign-off — that must be in hand before the gate.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The build is a $6.12M base planning estimate — a range, derived from the Function Pack archetypes, NOT a quote.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C1A3A"/>
                </a:solidFill>
              </a:rPr>
              <a:t>• The build is a $6.12M base planning estimate — range $5.20M to $8.56M. It is derived from the Function Pack archetypes on a researched benchmark rate card — a planning range, NOT a quote.</a:t>
            </a:r>
          </a:p>
          <a:p>
            <a:r>
              <a:rPr sz="1300">
                <a:solidFill>
                  <a:srgbClr val="0C1A3A"/>
                </a:solidFill>
              </a:rPr>
              <a:t>• Business change is 24% of effort — a credible build-vs-change balance for an AI Move where value depends on people changing how they work.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402336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297180">
                <a:tc>
                  <a:txBody>
                    <a:bodyPr/>
                    <a:lstStyle/>
                    <a:p>
                      <a:r>
                        <a:t>Workstream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 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AI-agent split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AI 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$2.21M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 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35%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$776K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 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20%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$716K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 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30%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Foundational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$163K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 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15%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Data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$397K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 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10%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Process redesign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$493K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 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10%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Change &amp; 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$607K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 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Value is a planning range built on curated benchmark proxies — the kernel honestly blocks a claimable dollar payback.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C1A3A"/>
                </a:solidFill>
              </a:rPr>
              <a:t>• Net 3-year value is carried as a planning range — point $113. It rests on the Function Pack's curated benchmark proxies, so the kernel honestly blocks a claimable dollar payback until the tenant's own metrics land.</a:t>
            </a:r>
          </a:p>
          <a:p>
            <a:r>
              <a:rPr sz="1300">
                <a:solidFill>
                  <a:srgbClr val="0C1A3A"/>
                </a:solidFill>
              </a:rPr>
              <a:t>• The gross figure is the upper planning bound — a curated benchmark proxy, not the tenant’s own measured value.</a:t>
            </a:r>
          </a:p>
          <a:p>
            <a:r>
              <a:rPr sz="1300">
                <a:solidFill>
                  <a:srgbClr val="0C1A3A"/>
                </a:solidFill>
              </a:rPr>
              <a:t>• The adoption ramp is a conservative planning curve — value lands as people change how they work, never on day one. It is a planning curve, not a commitment.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402336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94360">
                <a:tc>
                  <a:txBody>
                    <a:bodyPr/>
                    <a:lstStyle/>
                    <a:p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Net value at adoption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$34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Year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$74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t>Year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The case is shown as a range — base, conservative, upside — never a single point. The widest movers are the evidence asks.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C1A3A"/>
                </a:solidFill>
              </a:rPr>
              <a:t>• The case is shown as a range — conservative, base, upside — never a single point. The widest movers below are the highest-leverage evidence asks before the funding gate.</a:t>
            </a:r>
          </a:p>
          <a:p>
            <a:r>
              <a:rPr sz="1300">
                <a:solidFill>
                  <a:srgbClr val="0C1A3A"/>
                </a:solidFill>
              </a:rPr>
              <a:t>• Hatched bars are seed-gap proxies — they stand in for absent tenant data and are the evidence asks that gate funding.</a:t>
            </a:r>
          </a:p>
          <a:p>
            <a:r>
              <a:rPr sz="1300">
                <a:solidFill>
                  <a:srgbClr val="0C1A3A"/>
                </a:solidFill>
              </a:rPr>
              <a:t>• The case breaks if the baseline seed gap is not closed — without the missing unit economics the value range is a proxy, not a forecast.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Baseline coverage is 33% — 4 metrics recorded, 8 declared seed gaps. None are invented.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C1A3A"/>
                </a:solidFill>
              </a:rPr>
              <a:t>• Baseline coverage is 33% — 4 metrics are recorded by the Move, 8 are declared seed gaps inherited from the Function Pack. None are invented.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402336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475488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As 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Confidence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Cost of 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4.6 percent (blended)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Debt &amp; FX exposure (treasury_kyriba)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2026-03-31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Return on equity (ROE)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11.8 percent (EBITDA margin proxy)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 &amp; cost baseline (finance_performance)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2026-03-31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Financial-forecast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78 percent (forecast vs actual)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FP&amp;A reconciliation (Lakeshore enterprise context load V1)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2026-05-31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t>Planning and close cycle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8.5 business days to close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Month-end close baseline (operations_business_process)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2026-05-31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medium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F2A44"/>
                </a:solidFill>
              </a:rPr>
              <a:t>KILL — the Move does not pay back on current assumptions.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0C1A3A"/>
                </a:solidFill>
              </a:rPr>
              <a:t>• Base-case net return is not positive — the Move does not pay back on current assumptions.</a:t>
            </a:r>
          </a:p>
          <a:p>
            <a:r>
              <a:rPr sz="1300">
                <a:solidFill>
                  <a:srgbClr val="0C1A3A"/>
                </a:solidFill>
              </a:rPr>
              <a:t>• Net return is negative in the conservative case (-8561340.29). Kill or re-shape if the downside cannot be lifted above zero.</a:t>
            </a:r>
          </a:p>
          <a:p>
            <a:r>
              <a:rPr sz="1300">
                <a:solidFill>
                  <a:srgbClr val="0C1A3A"/>
                </a:solidFill>
              </a:rPr>
              <a:t>• The baseline seed gap that blocks monetisation is not closed before the gate — without it the return is unverifiable.</a:t>
            </a:r>
          </a:p>
          <a:p>
            <a:r>
              <a:rPr sz="1300">
                <a:solidFill>
                  <a:srgbClr val="0C1A3A"/>
                </a:solidFill>
              </a:rPr>
              <a:t>• Baseline coverage stays below acceptable level — 8 seed gap(s) remain unresolved at the gate.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402336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29718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Readiness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Net interest margin (NIM)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Seed gap — not measurable yet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SEED GAP — not measurable until the baseline for "Net interest margin (NIM)" is captured (expected source: The general ledger and the ALM system, reconciling interest income and expense against average earning-asset balances.). Tower cannot verify movement on this metric before the gap is closed.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Cost of funds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4.6 percent (blended)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Measurable now from the tenant baseline (Debt &amp; FX exposure (treasury_kyriba)). The improvement target is set with the tenant — the Function Pack benchmark (0.5–3.5 % annualised on average funding, planning-range) frames the range, it is not a committed target.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Liquidity coverage ratio (LCR)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Seed gap — not measurable yet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SEED GAP — not measurable until the baseline for "Liquidity coverage ratio (LCR)" is captured (expected source: The liquidity-risk and regulatory-reporting systems, computing HQLA and stressed outflows under the LCR rule.). Tower cannot verify movement on this metric before the gap is closed.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Net stable funding ratio (NSFR)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Seed gap — not measurable yet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SEED GAP — not measurable until the baseline for "Net stable funding ratio (NSFR)" is captured (expected source: The liquidity-risk and regulatory-reporting systems, computing available and required stable funding under the NSFR rule.). Tower cannot verify movement on this metric before the gap is closed.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Economic-value-of-equity rate 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Seed gap — not measurable yet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SEED GAP — not measurable until the baseline for "Economic-value-of-equity rate sensitivity" is captured (expected source: The ALM system, running the EVE measurement under the institution’s rate-shock scenario set.). Tower cannot verify movement on this metric before the gap is closed.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Net-interest-income rate 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Seed gap — not measurable yet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SEED GAP — not measurable until the baseline for "Net-interest-income rate sensitivity" is captured (expected source: The ALM system, running the net-interest-income simulation under the institution’s rate scenarios.). Tower cannot verify movement on this metric before the gap is closed.</a:t>
                      </a:r>
                    </a:p>
                  </a:txBody>
                  <a:tcPr/>
                </a:tc>
              </a:tr>
              <a:tr h="297180">
                <a:tc>
                  <a:txBody>
                    <a:bodyPr/>
                    <a:lstStyle/>
                    <a:p>
                      <a:r>
                        <a:t>Loan-to-deposit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Seed gap — not measurable yet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SEED GAP — not measurable until the baseline for "Loan-to-deposit ratio" is captured (expected source: The general ledger and treasury systems, aggregating loan and deposit balances.). Tower cannot verify movement on this metric before the gap is closed.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