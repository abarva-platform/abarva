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194560"/>
            <a:ext cx="10972800" cy="2286000"/>
          </a:xfrm>
          <a:prstGeom prst="rect">
            <a:avLst/>
          </a:prstGeom>
          <a:noFill/>
        </p:spPr>
        <p:txBody>
          <a:bodyPr wrap="square">
            <a:spAutoFit/>
          </a:bodyPr>
          <a:lstStyle/>
          <a:p>
            <a:r>
              <a:rPr sz="3000" b="1">
                <a:solidFill>
                  <a:srgbClr val="0C1A3A"/>
                </a:solidFill>
              </a:rPr>
              <a:t>Lakeshore Enterprise Finance &amp; Treasury Modernization: Kyriba Rollout, Corporate Controls, Reporting Rationalization, Vendor Optimization &amp; Value Realization</a:t>
            </a:r>
          </a:p>
          <a:p>
            <a:r>
              <a:rPr sz="1100">
                <a:solidFill>
                  <a:srgbClr val="6B7280"/>
                </a:solidFill>
              </a:rPr>
              <a:t>SYNTHETIC — LAKESHORE PILOT — NOT REAL DATA — ABARVA 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spAutoFit/>
          </a:bodyPr>
          <a:lstStyle/>
          <a:p>
            <a:r>
              <a:rPr sz="2200" b="1">
                <a:solidFill>
                  <a:srgbClr val="1F2A44"/>
                </a:solidFill>
              </a:rPr>
              <a:t>Lakeshore Enterprise Finance &amp; Treasury Modernization: Kyriba Rollout, Corporate Controls, Reporting Rationalization, Vendor Optimization &amp; Value Realization</a:t>
            </a:r>
          </a:p>
        </p:txBody>
      </p:sp>
      <p:sp>
        <p:nvSpPr>
          <p:cNvPr id="3" name="TextBox 2"/>
          <p:cNvSpPr txBox="1"/>
          <p:nvPr/>
        </p:nvSpPr>
        <p:spPr>
          <a:xfrm>
            <a:off x="548640" y="1188720"/>
            <a:ext cx="11064240" cy="5120640"/>
          </a:xfrm>
          <a:prstGeom prst="rect">
            <a:avLst/>
          </a:prstGeom>
          <a:noFill/>
        </p:spPr>
        <p:txBody>
          <a:bodyPr wrap="square">
            <a:spAutoFit/>
          </a:bodyPr>
          <a:lstStyle/>
          <a:p>
            <a:r>
              <a:rPr sz="1300">
                <a:solidFill>
                  <a:srgbClr val="0C1A3A"/>
                </a:solidFill>
              </a:rPr>
              <a:t>• A target-state architecture produced by the Moves Expert Kernel for this Move. The section structure is inherited from the curated Domain Function Pack; the target-state architecture, the reference patterns and the AI archetypes are the pac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spAutoFit/>
          </a:bodyPr>
          <a:lstStyle/>
          <a:p>
            <a:r>
              <a:rPr sz="2200" b="1">
                <a:solidFill>
                  <a:srgbClr val="1F2A44"/>
                </a:solidFill>
              </a:rPr>
              <a:t>Shape the Move around the curated "Continuous driver-based planning layer" pattern — the most human-accountable of the function-calibrated reference patterns, not the highest-autonomy one.</a:t>
            </a:r>
          </a:p>
        </p:txBody>
      </p:sp>
      <p:sp>
        <p:nvSpPr>
          <p:cNvPr id="3" name="TextBox 2"/>
          <p:cNvSpPr txBox="1"/>
          <p:nvPr/>
        </p:nvSpPr>
        <p:spPr>
          <a:xfrm>
            <a:off x="548640" y="1188720"/>
            <a:ext cx="11064240" cy="5120640"/>
          </a:xfrm>
          <a:prstGeom prst="rect">
            <a:avLst/>
          </a:prstGeom>
          <a:noFill/>
        </p:spPr>
        <p:txBody>
          <a:bodyPr wrap="square">
            <a:spAutoFit/>
          </a:bodyPr>
          <a:lstStyle/>
          <a:p>
            <a:r>
              <a:rPr sz="1300">
                <a:solidFill>
                  <a:srgbClr val="0C1A3A"/>
                </a:solidFill>
              </a:rPr>
              <a:t>• A pattern that runs financial planning as a continuous, driver-based process — the forecast assembled from balance, rate, volume, and expense drivers and re-run as actuals land — rather than as a periodic spreadsheet ex… Boundary: It builds</a:t>
            </a:r>
          </a:p>
          <a:p>
            <a:r>
              <a:rPr sz="1300">
                <a:solidFill>
                  <a:srgbClr val="0C1A3A"/>
                </a:solidFill>
              </a:rPr>
              <a:t>• Every candidate is a curated reference solution pattern from the bound Domain Function Pack; the selected pattern is the most human-accountable, not the highest-autonomy option.</a:t>
            </a:r>
          </a:p>
          <a:p>
            <a:r>
              <a:rPr sz="1300">
                <a:solidFill>
                  <a:srgbClr val="0C1A3A"/>
                </a:solidFill>
              </a:rPr>
              <a:t>• The pattern is inherited from the curated Finance, treasury &amp; ALM Domain Function Pack — the section structure and the pattern set are not improvised.</a:t>
            </a:r>
          </a:p>
          <a:p>
            <a:r>
              <a:rPr sz="1300">
                <a:solidFill>
                  <a:srgbClr val="0C1A3A"/>
                </a:solidFill>
              </a:rPr>
              <a:t>• The lowest-autonomy curated pattern is selected: an originated Move keeps a named human accountable before autonomy expands.</a:t>
            </a:r>
          </a:p>
          <a:p>
            <a:r>
              <a:rPr sz="1300">
                <a:solidFill>
                  <a:srgbClr val="0C1A3A"/>
                </a:solidFill>
              </a:rPr>
              <a:t>• The pack carries 5 reference patterns and 6 AI use-case archetypes — the architecture is calibrated to this function.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spAutoFit/>
          </a:bodyPr>
          <a:lstStyle/>
          <a:p>
            <a:r>
              <a:rPr sz="2200" b="1">
                <a:solidFill>
                  <a:srgbClr val="1F2A44"/>
                </a:solidFill>
              </a:rPr>
              <a:t>This deck inherits the curated Finance, treasury &amp; ALM solution-architecture outline — 6 sections, structure not improvised.</a:t>
            </a:r>
          </a:p>
        </p:txBody>
      </p:sp>
      <p:sp>
        <p:nvSpPr>
          <p:cNvPr id="3" name="TextBox 2"/>
          <p:cNvSpPr txBox="1"/>
          <p:nvPr/>
        </p:nvSpPr>
        <p:spPr>
          <a:xfrm>
            <a:off x="548640" y="1188720"/>
            <a:ext cx="11064240" cy="5120640"/>
          </a:xfrm>
          <a:prstGeom prst="rect">
            <a:avLst/>
          </a:prstGeom>
          <a:noFill/>
        </p:spPr>
        <p:txBody>
          <a:bodyPr wrap="square">
            <a:spAutoFit/>
          </a:bodyPr>
          <a:lstStyle/>
          <a:p>
            <a:r>
              <a:rPr sz="1300">
                <a:solidFill>
                  <a:srgbClr val="0C1A3A"/>
                </a:solidFill>
              </a:rPr>
              <a:t>• This Solution Architecture Pack inherits the curated Finance, treasury &amp;amp; ALM solution-architecture outline from the bound Domain Function Pack. The agent does not improvise the structure — every section below is a curated, function-cali</a:t>
            </a:r>
          </a:p>
        </p:txBody>
      </p:sp>
      <p:graphicFrame>
        <p:nvGraphicFramePr>
          <p:cNvPr id="4" name="Table 3"/>
          <p:cNvGraphicFramePr>
            <a:graphicFrameLocks noGrp="1"/>
          </p:cNvGraphicFramePr>
          <p:nvPr/>
        </p:nvGraphicFramePr>
        <p:xfrm>
          <a:off x="548640" y="4023360"/>
          <a:ext cx="11064240" cy="2377440"/>
        </p:xfrm>
        <a:graphic>
          <a:graphicData uri="http://schemas.openxmlformats.org/drawingml/2006/table">
            <a:tbl>
              <a:tblPr firstRow="1" bandRow="1">
                <a:tableStyleId>{5C22544A-7EE6-4342-B048-85BDC9FD1C3A}</a:tableStyleId>
              </a:tblPr>
              <a:tblGrid>
                <a:gridCol w="3688080"/>
                <a:gridCol w="3688080"/>
                <a:gridCol w="3688080"/>
              </a:tblGrid>
              <a:tr h="339634">
                <a:tc>
                  <a:txBody>
                    <a:bodyPr/>
                    <a:lstStyle/>
                    <a:p>
                      <a:r>
                        <a:t>#</a:t>
                      </a:r>
                    </a:p>
                  </a:txBody>
                  <a:tcPr/>
                </a:tc>
                <a:tc>
                  <a:txBody>
                    <a:bodyPr/>
                    <a:lstStyle/>
                    <a:p>
                      <a:r>
                        <a:t>Section heading</a:t>
                      </a:r>
                    </a:p>
                  </a:txBody>
                  <a:tcPr/>
                </a:tc>
                <a:tc>
                  <a:txBody>
                    <a:bodyPr/>
                    <a:lstStyle/>
                    <a:p>
                      <a:r>
                        <a:t>Curated guidance</a:t>
                      </a:r>
                    </a:p>
                  </a:txBody>
                  <a:tcPr/>
                </a:tc>
              </a:tr>
              <a:tr h="339634">
                <a:tc>
                  <a:txBody>
                    <a:bodyPr/>
                    <a:lstStyle/>
                    <a:p>
                      <a:r>
                        <a:t>1</a:t>
                      </a:r>
                    </a:p>
                  </a:txBody>
                  <a:tcPr/>
                </a:tc>
                <a:tc>
                  <a:txBody>
                    <a:bodyPr/>
                    <a:lstStyle/>
                    <a:p>
                      <a:r>
                        <a:t>Target-state architecture</a:t>
                      </a:r>
                    </a:p>
                  </a:txBody>
                  <a:tcPr/>
                </a:tc>
                <a:tc>
                  <a:txBody>
                    <a:bodyPr/>
                    <a:lstStyle/>
                    <a:p>
                      <a:r>
                        <a:t>Lay out the architecture against the function reference patterns — continuous driver-based planning, the behavioural-assumption engine, on-demand ALM scenarios, continuous liquidity surveillance, integrated capital steering — and state which apply and how they connect.</a:t>
                      </a:r>
                    </a:p>
                  </a:txBody>
                  <a:tcPr/>
                </a:tc>
              </a:tr>
              <a:tr h="339634">
                <a:tc>
                  <a:txBody>
                    <a:bodyPr/>
                    <a:lstStyle/>
                    <a:p>
                      <a:r>
                        <a:t>2</a:t>
                      </a:r>
                    </a:p>
                  </a:txBody>
                  <a:tcPr/>
                </a:tc>
                <a:tc>
                  <a:txBody>
                    <a:bodyPr/>
                    <a:lstStyle/>
                    <a:p>
                      <a:r>
                        <a:t>Data architecture and integrations</a:t>
                      </a:r>
                    </a:p>
                  </a:txBody>
                  <a:tcPr/>
                </a:tc>
                <a:tc>
                  <a:txBody>
                    <a:bodyPr/>
                    <a:lstStyle/>
                    <a:p>
                      <a:r>
                        <a:t>Specify the ALM, general-ledger, FP&amp;A, treasury, and liquidity-reporting integrations, the data lineage from source ledger to management, ALM, and regulatory views, and the driver and behavioural data the use cases depend on.</a:t>
                      </a:r>
                    </a:p>
                  </a:txBody>
                  <a:tcPr/>
                </a:tc>
              </a:tr>
              <a:tr h="339634">
                <a:tc>
                  <a:txBody>
                    <a:bodyPr/>
                    <a:lstStyle/>
                    <a:p>
                      <a:r>
                        <a:t>3</a:t>
                      </a:r>
                    </a:p>
                  </a:txBody>
                  <a:tcPr/>
                </a:tc>
                <a:tc>
                  <a:txBody>
                    <a:bodyPr/>
                    <a:lstStyle/>
                    <a:p>
                      <a:r>
                        <a:t>AI use-case design and control posture</a:t>
                      </a:r>
                    </a:p>
                  </a:txBody>
                  <a:tcPr/>
                </a:tc>
                <a:tc>
                  <a:txBody>
                    <a:bodyPr/>
                    <a:lstStyle/>
                    <a:p>
                      <a:r>
                        <a:t>For each archetype in scope, specify the value mechanism, the control posture, the human accountability point, and the escalation path. Define where ALCO, the Treasurer, and the CFO retain the decision and where no position is executed autonomously.</a:t>
                      </a:r>
                    </a:p>
                  </a:txBody>
                  <a:tcPr/>
                </a:tc>
              </a:tr>
              <a:tr h="339634">
                <a:tc>
                  <a:txBody>
                    <a:bodyPr/>
                    <a:lstStyle/>
                    <a:p>
                      <a:r>
                        <a:t>4</a:t>
                      </a:r>
                    </a:p>
                  </a:txBody>
                  <a:tcPr/>
                </a:tc>
                <a:tc>
                  <a:txBody>
                    <a:bodyPr/>
                    <a:lstStyle/>
                    <a:p>
                      <a:r>
                        <a:t>Operating-model change</a:t>
                      </a:r>
                    </a:p>
                  </a:txBody>
                  <a:tcPr/>
                </a:tc>
                <a:tc>
                  <a:txBody>
                    <a:bodyPr/>
                    <a:lstStyle/>
                    <a:p>
                      <a:r>
                        <a:t>Define how FP&amp;A, ALM, treasury, liquidity-risk, and capital workflows change, how finance staff are redeployed from assembly and reconciliation to analysis, and who owns each change.</a:t>
                      </a:r>
                    </a:p>
                  </a:txBody>
                  <a:tcPr/>
                </a:tc>
              </a:tr>
              <a:tr h="339634">
                <a:tc>
                  <a:txBody>
                    <a:bodyPr/>
                    <a:lstStyle/>
                    <a:p>
                      <a:r>
                        <a:t>5</a:t>
                      </a:r>
                    </a:p>
                  </a:txBody>
                  <a:tcPr/>
                </a:tc>
                <a:tc>
                  <a:txBody>
                    <a:bodyPr/>
                    <a:lstStyle/>
                    <a:p>
                      <a:r>
                        <a:t>Model governance and responsible-AI controls</a:t>
                      </a:r>
                    </a:p>
                  </a:txBody>
                  <a:tcPr/>
                </a:tc>
                <a:tc>
                  <a:txBody>
                    <a:bodyPr/>
                    <a:lstStyle/>
                    <a:p>
                      <a:r>
                        <a:t>State the model risk-management treatment, validation, and explainability for any ALM, capital, forecasting, or behavioural model, and the regulatory frames (IRRBB, LCR/NSFR, the capital rules, CCAR/DFAST, CECL) that bound the design.</a:t>
                      </a:r>
                    </a:p>
                  </a:txBody>
                  <a:tcPr/>
                </a:tc>
              </a:tr>
              <a:tr h="339636">
                <a:tc>
                  <a:txBody>
                    <a:bodyPr/>
                    <a:lstStyle/>
                    <a:p>
                      <a:r>
                        <a:t>6</a:t>
                      </a:r>
                    </a:p>
                  </a:txBody>
                  <a:tcPr/>
                </a:tc>
                <a:tc>
                  <a:txBody>
                    <a:bodyPr/>
                    <a:lstStyle/>
                    <a:p>
                      <a:r>
                        <a:t>Integration and build approach</a:t>
                      </a:r>
                    </a:p>
                  </a:txBody>
                  <a:tcPr/>
                </a:tc>
                <a:tc>
                  <a:txBody>
                    <a:bodyPr/>
                    <a:lstStyle/>
                    <a:p>
                      <a:r>
                        <a:t>Describe the build sequence, the integration patterns, and the phased rollout across the finance, treasury, and ALM domains.</a:t>
                      </a:r>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spAutoFit/>
          </a:bodyPr>
          <a:lstStyle/>
          <a:p>
            <a:r>
              <a:rPr sz="2200" b="1">
                <a:solidFill>
                  <a:srgbClr val="1F2A44"/>
                </a:solidFill>
              </a:rPr>
              <a:t>The target state is built from 5 curated reference solution patterns — every pattern names its boundary and a human accountability point.</a:t>
            </a:r>
          </a:p>
        </p:txBody>
      </p:sp>
      <p:sp>
        <p:nvSpPr>
          <p:cNvPr id="3" name="TextBox 2"/>
          <p:cNvSpPr txBox="1"/>
          <p:nvPr/>
        </p:nvSpPr>
        <p:spPr>
          <a:xfrm>
            <a:off x="548640" y="1188720"/>
            <a:ext cx="11064240" cy="5120640"/>
          </a:xfrm>
          <a:prstGeom prst="rect">
            <a:avLst/>
          </a:prstGeom>
          <a:noFill/>
        </p:spPr>
        <p:txBody>
          <a:bodyPr wrap="square">
            <a:spAutoFit/>
          </a:bodyPr>
          <a:lstStyle/>
          <a:p>
            <a:r>
              <a:rPr sz="1300">
                <a:solidFill>
                  <a:srgbClr val="0C1A3A"/>
                </a:solidFill>
              </a:rPr>
              <a:t>• The target-state architecture is built from 5 curated reference solution patterns. Every pattern names its boundary — what it owns and what it explicitly does not — and a named human accountability point.</a:t>
            </a:r>
          </a:p>
        </p:txBody>
      </p:sp>
      <p:graphicFrame>
        <p:nvGraphicFramePr>
          <p:cNvPr id="4" name="Table 3"/>
          <p:cNvGraphicFramePr>
            <a:graphicFrameLocks noGrp="1"/>
          </p:cNvGraphicFramePr>
          <p:nvPr/>
        </p:nvGraphicFramePr>
        <p:xfrm>
          <a:off x="548640" y="4023360"/>
          <a:ext cx="11064240" cy="2377440"/>
        </p:xfrm>
        <a:graphic>
          <a:graphicData uri="http://schemas.openxmlformats.org/drawingml/2006/table">
            <a:tbl>
              <a:tblPr firstRow="1" bandRow="1">
                <a:tableStyleId>{5C22544A-7EE6-4342-B048-85BDC9FD1C3A}</a:tableStyleId>
              </a:tblPr>
              <a:tblGrid>
                <a:gridCol w="3688080"/>
                <a:gridCol w="3688080"/>
                <a:gridCol w="3688080"/>
              </a:tblGrid>
              <a:tr h="396240">
                <a:tc>
                  <a:txBody>
                    <a:bodyPr/>
                    <a:lstStyle/>
                    <a:p>
                      <a:r>
                        <a:t>Reference pattern</a:t>
                      </a:r>
                    </a:p>
                  </a:txBody>
                  <a:tcPr/>
                </a:tc>
                <a:tc>
                  <a:txBody>
                    <a:bodyPr/>
                    <a:lstStyle/>
                    <a:p>
                      <a:r>
                        <a:t>Control posture</a:t>
                      </a:r>
                    </a:p>
                  </a:txBody>
                  <a:tcPr/>
                </a:tc>
                <a:tc>
                  <a:txBody>
                    <a:bodyPr/>
                    <a:lstStyle/>
                    <a:p>
                      <a:r>
                        <a:t>Human accountability point</a:t>
                      </a:r>
                    </a:p>
                  </a:txBody>
                  <a:tcPr/>
                </a:tc>
              </a:tr>
              <a:tr h="396240">
                <a:tc>
                  <a:txBody>
                    <a:bodyPr/>
                    <a:lstStyle/>
                    <a:p>
                      <a:r>
                        <a:t>Continuous driver-based planning layer Target</a:t>
                      </a:r>
                    </a:p>
                  </a:txBody>
                  <a:tcPr/>
                </a:tc>
                <a:tc>
                  <a:txBody>
                    <a:bodyPr/>
                    <a:lstStyle/>
                    <a:p>
                      <a:r>
                        <a:t>Human-In-The-Loop</a:t>
                      </a:r>
                    </a:p>
                  </a:txBody>
                  <a:tcPr/>
                </a:tc>
                <a:tc>
                  <a:txBody>
                    <a:bodyPr/>
                    <a:lstStyle/>
                    <a:p>
                      <a:r>
                        <a:t>The Chief Financial Officer accountable for the financial plan, the forecast, and management reporting.</a:t>
                      </a:r>
                    </a:p>
                  </a:txBody>
                  <a:tcPr/>
                </a:tc>
              </a:tr>
              <a:tr h="396240">
                <a:tc>
                  <a:txBody>
                    <a:bodyPr/>
                    <a:lstStyle/>
                    <a:p>
                      <a:r>
                        <a:t>Behavioural-assumption engine</a:t>
                      </a:r>
                    </a:p>
                  </a:txBody>
                  <a:tcPr/>
                </a:tc>
                <a:tc>
                  <a:txBody>
                    <a:bodyPr/>
                    <a:lstStyle/>
                    <a:p>
                      <a:r>
                        <a:t>Human-In-The-Loop</a:t>
                      </a:r>
                    </a:p>
                  </a:txBody>
                  <a:tcPr/>
                </a:tc>
                <a:tc>
                  <a:txBody>
                    <a:bodyPr/>
                    <a:lstStyle/>
                    <a:p>
                      <a:r>
                        <a:t>The Treasurer accountable for the behavioural-assumption set feeding the ALM model and the interest-rate-risk view.</a:t>
                      </a:r>
                    </a:p>
                  </a:txBody>
                  <a:tcPr/>
                </a:tc>
              </a:tr>
              <a:tr h="396240">
                <a:tc>
                  <a:txBody>
                    <a:bodyPr/>
                    <a:lstStyle/>
                    <a:p>
                      <a:r>
                        <a:t>Integrated capital-steering pattern</a:t>
                      </a:r>
                    </a:p>
                  </a:txBody>
                  <a:tcPr/>
                </a:tc>
                <a:tc>
                  <a:txBody>
                    <a:bodyPr/>
                    <a:lstStyle/>
                    <a:p>
                      <a:r>
                        <a:t>Human-Approval-Required</a:t>
                      </a:r>
                    </a:p>
                  </a:txBody>
                  <a:tcPr/>
                </a:tc>
                <a:tc>
                  <a:txBody>
                    <a:bodyPr/>
                    <a:lstStyle/>
                    <a:p>
                      <a:r>
                        <a:t>The Chief Financial Officer accountable for the capital plan, capital allocation, and the stress-testing process.</a:t>
                      </a:r>
                    </a:p>
                  </a:txBody>
                  <a:tcPr/>
                </a:tc>
              </a:tr>
              <a:tr h="396240">
                <a:tc>
                  <a:txBody>
                    <a:bodyPr/>
                    <a:lstStyle/>
                    <a:p>
                      <a:r>
                        <a:t>On-demand ALM scenario pattern</a:t>
                      </a:r>
                    </a:p>
                  </a:txBody>
                  <a:tcPr/>
                </a:tc>
                <a:tc>
                  <a:txBody>
                    <a:bodyPr/>
                    <a:lstStyle/>
                    <a:p>
                      <a:r>
                        <a:t>Human-On-The-Loop</a:t>
                      </a:r>
                    </a:p>
                  </a:txBody>
                  <a:tcPr/>
                </a:tc>
                <a:tc>
                  <a:txBody>
                    <a:bodyPr/>
                    <a:lstStyle/>
                    <a:p>
                      <a:r>
                        <a:t>The Asset-Liability Committee (ALCO), chaired by the Treasurer, accountable for balance-sheet and interest-rate-risk decisions.</a:t>
                      </a:r>
                    </a:p>
                  </a:txBody>
                  <a:tcPr/>
                </a:tc>
              </a:tr>
              <a:tr h="396240">
                <a:tc>
                  <a:txBody>
                    <a:bodyPr/>
                    <a:lstStyle/>
                    <a:p>
                      <a:r>
                        <a:t>Continuous liquidity-surveillance pattern</a:t>
                      </a:r>
                    </a:p>
                  </a:txBody>
                  <a:tcPr/>
                </a:tc>
                <a:tc>
                  <a:txBody>
                    <a:bodyPr/>
                    <a:lstStyle/>
                    <a:p>
                      <a:r>
                        <a:t>Human-On-The-Loop</a:t>
                      </a:r>
                    </a:p>
                  </a:txBody>
                  <a:tcPr/>
                </a:tc>
                <a:tc>
                  <a:txBody>
                    <a:bodyPr/>
                    <a:lstStyle/>
                    <a:p>
                      <a:r>
                        <a:t>The Treasurer accountable for funding strategy, the liquidity buffer, and the contingency-funding plan.</a:t>
                      </a:r>
                    </a:p>
                  </a:txBody>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spAutoFit/>
          </a:bodyPr>
          <a:lstStyle/>
          <a:p>
            <a:r>
              <a:rPr sz="2200" b="1">
                <a:solidFill>
                  <a:srgbClr val="1F2A44"/>
                </a:solidFill>
              </a:rPr>
              <a:t>The architecture must support 6 curated AI use-case archetypes — each with a named value mechanism and control posture.</a:t>
            </a:r>
          </a:p>
        </p:txBody>
      </p:sp>
      <p:sp>
        <p:nvSpPr>
          <p:cNvPr id="3" name="TextBox 2"/>
          <p:cNvSpPr txBox="1"/>
          <p:nvPr/>
        </p:nvSpPr>
        <p:spPr>
          <a:xfrm>
            <a:off x="548640" y="1188720"/>
            <a:ext cx="11064240" cy="5120640"/>
          </a:xfrm>
          <a:prstGeom prst="rect">
            <a:avLst/>
          </a:prstGeom>
          <a:noFill/>
        </p:spPr>
        <p:txBody>
          <a:bodyPr wrap="square">
            <a:spAutoFit/>
          </a:bodyPr>
          <a:lstStyle/>
          <a:p>
            <a:r>
              <a:rPr sz="1300">
                <a:solidFill>
                  <a:srgbClr val="0C1A3A"/>
                </a:solidFill>
              </a:rPr>
              <a:t>• The architecture must support 6 curated AI use-case archetypes — the recurring AI bets in this function. The agent recognises the bet instead of reasoning from zero; each archetype carries a named value mechanism and a control posture.</a:t>
            </a:r>
          </a:p>
        </p:txBody>
      </p:sp>
      <p:graphicFrame>
        <p:nvGraphicFramePr>
          <p:cNvPr id="4" name="Table 3"/>
          <p:cNvGraphicFramePr>
            <a:graphicFrameLocks noGrp="1"/>
          </p:cNvGraphicFramePr>
          <p:nvPr/>
        </p:nvGraphicFramePr>
        <p:xfrm>
          <a:off x="548640" y="4023360"/>
          <a:ext cx="11064240" cy="2377440"/>
        </p:xfrm>
        <a:graphic>
          <a:graphicData uri="http://schemas.openxmlformats.org/drawingml/2006/table">
            <a:tbl>
              <a:tblPr firstRow="1" bandRow="1">
                <a:tableStyleId>{5C22544A-7EE6-4342-B048-85BDC9FD1C3A}</a:tableStyleId>
              </a:tblPr>
              <a:tblGrid>
                <a:gridCol w="2766060"/>
                <a:gridCol w="2766060"/>
                <a:gridCol w="2766060"/>
                <a:gridCol w="2766060"/>
              </a:tblGrid>
              <a:tr h="339634">
                <a:tc>
                  <a:txBody>
                    <a:bodyPr/>
                    <a:lstStyle/>
                    <a:p>
                      <a:r>
                        <a:t>AI use-case archetype</a:t>
                      </a:r>
                    </a:p>
                  </a:txBody>
                  <a:tcPr/>
                </a:tc>
                <a:tc>
                  <a:txBody>
                    <a:bodyPr/>
                    <a:lstStyle/>
                    <a:p>
                      <a:r>
                        <a:t>Control posture</a:t>
                      </a:r>
                    </a:p>
                  </a:txBody>
                  <a:tcPr/>
                </a:tc>
                <a:tc>
                  <a:txBody>
                    <a:bodyPr/>
                    <a:lstStyle/>
                    <a:p>
                      <a:r>
                        <a:t>Data dependencies</a:t>
                      </a:r>
                    </a:p>
                  </a:txBody>
                  <a:tcPr/>
                </a:tc>
                <a:tc>
                  <a:txBody>
                    <a:bodyPr/>
                    <a:lstStyle/>
                    <a:p>
                      <a:r>
                        <a:t>Control / risk notes</a:t>
                      </a:r>
                    </a:p>
                  </a:txBody>
                  <a:tcPr/>
                </a:tc>
              </a:tr>
              <a:tr h="339634">
                <a:tc>
                  <a:txBody>
                    <a:bodyPr/>
                    <a:lstStyle/>
                    <a:p>
                      <a:r>
                        <a:t>Driver-based financial forecasting and planning</a:t>
                      </a:r>
                    </a:p>
                  </a:txBody>
                  <a:tcPr/>
                </a:tc>
                <a:tc>
                  <a:txBody>
                    <a:bodyPr/>
                    <a:lstStyle/>
                    <a:p>
                      <a:r>
                        <a:t>Human-In-The-Loop</a:t>
                      </a:r>
                    </a:p>
                  </a:txBody>
                  <a:tcPr/>
                </a:tc>
                <a:tc>
                  <a:txBody>
                    <a:bodyPr/>
                    <a:lstStyle/>
                    <a:p>
                      <a:r>
                        <a:t>General-ledger actuals and historical financial results; Balance, rate, and volume driver data from the core and product systems; Macroeconomic and rate-path inputs and management assumptions</a:t>
                      </a:r>
                    </a:p>
                  </a:txBody>
                  <a:tcPr/>
                </a:tc>
                <a:tc>
                  <a:txBody>
                    <a:bodyPr/>
                    <a:lstStyle/>
                    <a:p>
                      <a:r>
                        <a:t>The model produces a driver-based forecast; the CFO and FP&amp;A own the assumptions, the management overlay, and the forecast that is communicated — the model does not set the plan.; The driver model must be back-tested and its assumptions made explicit, so a forecast miss can be traced to a driver rather than an opaque model.; Management overlays must be transparent and governed — an unexplained overlay that overrides the model defeats the discipline.</a:t>
                      </a:r>
                    </a:p>
                  </a:txBody>
                  <a:tcPr/>
                </a:tc>
              </a:tr>
              <a:tr h="339634">
                <a:tc>
                  <a:txBody>
                    <a:bodyPr/>
                    <a:lstStyle/>
                    <a:p>
                      <a:r>
                        <a:t>Deposit-behaviour and beta modelling</a:t>
                      </a:r>
                    </a:p>
                  </a:txBody>
                  <a:tcPr/>
                </a:tc>
                <a:tc>
                  <a:txBody>
                    <a:bodyPr/>
                    <a:lstStyle/>
                    <a:p>
                      <a:r>
                        <a:t>Human-In-The-Loop</a:t>
                      </a:r>
                    </a:p>
                  </a:txBody>
                  <a:tcPr/>
                </a:tc>
                <a:tc>
                  <a:txBody>
                    <a:bodyPr/>
                    <a:lstStyle/>
                    <a:p>
                      <a:r>
                        <a:t>Account-level deposit balance and rate history by product and segment; Historical benchmark-rate moves to calibrate beta and migration; Customer-segment and relationship data</a:t>
                      </a:r>
                    </a:p>
                  </a:txBody>
                  <a:tcPr/>
                </a:tc>
                <a:tc>
                  <a:txBody>
                    <a:bodyPr/>
                    <a:lstStyle/>
                    <a:p>
                      <a:r>
                        <a:t>The model estimates deposit behaviour; the Treasurer and ALM own the assumptions adopted into the ALM model and the NIM forecast — the model informs, it does not set the assumption set.; Behavioural models calibrated on one rate cycle can mislead in a different one; the model must be stress-tested across regimes and its extrapolation limits stated.; Account-level deposit data is sensitive customer data — access and use must respect privacy obligations.</a:t>
                      </a:r>
                    </a:p>
                  </a:txBody>
                  <a:tcPr/>
                </a:tc>
              </a:tr>
              <a:tr h="339634">
                <a:tc>
                  <a:txBody>
                    <a:bodyPr/>
                    <a:lstStyle/>
                    <a:p>
                      <a:r>
                        <a:t>ALM scenario and balance-sheet what-if acceleration</a:t>
                      </a:r>
                    </a:p>
                  </a:txBody>
                  <a:tcPr/>
                </a:tc>
                <a:tc>
                  <a:txBody>
                    <a:bodyPr/>
                    <a:lstStyle/>
                    <a:p>
                      <a:r>
                        <a:t>Human-On-The-Loop</a:t>
                      </a:r>
                    </a:p>
                  </a:txBody>
                  <a:tcPr/>
                </a:tc>
                <a:tc>
                  <a:txBody>
                    <a:bodyPr/>
                    <a:lstStyle/>
                    <a:p>
                      <a:r>
                        <a:t>The full ALM position data — assets, liabilities, and off-balance-sheet instruments; The behavioural-assumption set (deposit beta, prepayment, decay); Rate-scenario definitions and hedge-instrument data</a:t>
                      </a:r>
                    </a:p>
                  </a:txBody>
                  <a:tcPr/>
                </a:tc>
                <a:tc>
                  <a:txBody>
                    <a:bodyPr/>
                    <a:lstStyle/>
                    <a:p>
                      <a:r>
                        <a:t>The agent runs scenarios and explains drivers; ALCO and the Treasurer own every balance-sheet and hedging decision — the agent does not execute a position.; Scenario speed must not erode rigour — the underlying ALM model and its assumptions remain governed and validated, and a fast wrong answer is worse than a slow right one.; The agent must surface the assumption sensitivity of each result so ALCO sees how much a conclusion depends on a contested assumption.</a:t>
                      </a:r>
                    </a:p>
                  </a:txBody>
                  <a:tcPr/>
                </a:tc>
              </a:tr>
              <a:tr h="339634">
                <a:tc>
                  <a:txBody>
                    <a:bodyPr/>
                    <a:lstStyle/>
                    <a:p>
                      <a:r>
                        <a:t>Liquidity and funding-concentration monitoring</a:t>
                      </a:r>
                    </a:p>
                  </a:txBody>
                  <a:tcPr/>
                </a:tc>
                <a:tc>
                  <a:txBody>
                    <a:bodyPr/>
                    <a:lstStyle/>
                    <a:p>
                      <a:r>
                        <a:t>Human-On-The-Loop</a:t>
                      </a:r>
                    </a:p>
                  </a:txBody>
                  <a:tcPr/>
                </a:tc>
                <a:tc>
                  <a:txBody>
                    <a:bodyPr/>
                    <a:lstStyle/>
                    <a:p>
                      <a:r>
                        <a:t>Account-level deposit data with insured/uninsured and concentration attributes; Wholesale and brokered funding positions and maturities; HQLA holdings and the LCR/NSFR computation inputs</a:t>
                      </a:r>
                    </a:p>
                  </a:txBody>
                  <a:tcPr/>
                </a:tc>
                <a:tc>
                  <a:txBody>
                    <a:bodyPr/>
                    <a:lstStyle/>
                    <a:p>
                      <a:r>
                        <a:t>The agent monitors and flags; the Treasurer and the liquidity-risk function own the funding strategy and any buffer or contingency action — the agent does not move funding.; Liquidity-stress assumptions must be back-tested against actual deposit behaviour; a monitor that runs on optimistic assumptions gives false comfort.; Early-warning thresholds need governance so genuine signals are acted on and noise does not desensitise the function.</a:t>
                      </a:r>
                    </a:p>
                  </a:txBody>
                  <a:tcPr/>
                </a:tc>
              </a:tr>
              <a:tr h="339634">
                <a:tc>
                  <a:txBody>
                    <a:bodyPr/>
                    <a:lstStyle/>
                    <a:p>
                      <a:r>
                        <a:t>Capital allocation and stress-integration optimisation</a:t>
                      </a:r>
                    </a:p>
                  </a:txBody>
                  <a:tcPr/>
                </a:tc>
                <a:tc>
                  <a:txBody>
                    <a:bodyPr/>
                    <a:lstStyle/>
                    <a:p>
                      <a:r>
                        <a:t>Human-Approval-Required</a:t>
                      </a:r>
                    </a:p>
                  </a:txBody>
                  <a:tcPr/>
                </a:tc>
                <a:tc>
                  <a:txBody>
                    <a:bodyPr/>
                    <a:lstStyle/>
                    <a:p>
                      <a:r>
                        <a:t>Risk-weighted-asset and capital data by book and business line; Profitability and risk-adjusted-return data with FTP applied; Stress-test scenario results and the capital-plan baseline</a:t>
                      </a:r>
                    </a:p>
                  </a:txBody>
                  <a:tcPr/>
                </a:tc>
                <a:tc>
                  <a:txBody>
                    <a:bodyPr/>
                    <a:lstStyle/>
                    <a:p>
                      <a:r>
                        <a:t>The model informs capital allocation; the CFO, Treasurer, and the board own capital decisions, distributions, and the capital plan — the model does not allocate capital itself.; Optimising return must never push the capital position toward the regulatory floor — buffers exist to absorb stress and the optimisation is bounded by the capital framework and risk appetite.; Stress and capital models are model-risk-managed assets; their integration must be validated and explainable to the board and examiners.</a:t>
                      </a:r>
                    </a:p>
                  </a:txBody>
                  <a:tcPr/>
                </a:tc>
              </a:tr>
              <a:tr h="339636">
                <a:tc>
                  <a:txBody>
                    <a:bodyPr/>
                    <a:lstStyle/>
                    <a:p>
                      <a:r>
                        <a:t>Financial-close and reconciliation automation</a:t>
                      </a:r>
                    </a:p>
                  </a:txBody>
                  <a:tcPr/>
                </a:tc>
                <a:tc>
                  <a:txBody>
                    <a:bodyPr/>
                    <a:lstStyle/>
                    <a:p>
                      <a:r>
                        <a:t>Human-Approval-Required</a:t>
                      </a:r>
                    </a:p>
                  </a:txBody>
                  <a:tcPr/>
                </a:tc>
                <a:tc>
                  <a:txBody>
                    <a:bodyPr/>
                    <a:lstStyle/>
                    <a:p>
                      <a:r>
                        <a:t>General-ledger and sub-ledger data with account mappings; Reconciliation rules and intercompany relationships; Management-reporting templates and prior-period results</a:t>
                      </a:r>
                    </a:p>
                  </a:txBody>
                  <a:tcPr/>
                </a:tc>
                <a:tc>
                  <a:txBody>
                    <a:bodyPr/>
                    <a:lstStyle/>
                    <a:p>
                      <a:r>
                        <a:t>The agent automates close mechanics and reconciliation; the controller reviews exceptions and attests the close — the financial result remains a human-attested act.; Automated reconciliation must surface, not suppress, genuine breaks; a reconciliation forced to tie hides the very error it should catch.; Data lineage must be auditable end-to-end so any reported figure can be traced from management reporting to the source ledger.</a:t>
                      </a:r>
                    </a:p>
                  </a:txBody>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spAutoFit/>
          </a:bodyPr>
          <a:lstStyle/>
          <a:p>
            <a:r>
              <a:rPr sz="2200" b="1">
                <a:solidFill>
                  <a:srgbClr val="1F2A44"/>
                </a:solidFill>
              </a:rPr>
              <a:t>A named human holds the decision right at the checkpoint — the curated patterns keep the agent assisting, never deciding alone.</a:t>
            </a:r>
          </a:p>
        </p:txBody>
      </p:sp>
      <p:sp>
        <p:nvSpPr>
          <p:cNvPr id="3" name="TextBox 2"/>
          <p:cNvSpPr txBox="1"/>
          <p:nvPr/>
        </p:nvSpPr>
        <p:spPr>
          <a:xfrm>
            <a:off x="548640" y="1188720"/>
            <a:ext cx="11064240" cy="5120640"/>
          </a:xfrm>
          <a:prstGeom prst="rect">
            <a:avLst/>
          </a:prstGeom>
          <a:noFill/>
        </p:spPr>
        <p:txBody>
          <a:bodyPr wrap="square">
            <a:spAutoFit/>
          </a:bodyPr>
          <a:lstStyle/>
          <a:p>
            <a:r>
              <a:rPr sz="1300">
                <a:solidFill>
                  <a:srgbClr val="0C1A3A"/>
                </a:solidFill>
              </a:rPr>
              <a:t>• The agent retrieves, drafts and prepares — but the decision to act belongs to a named human. The accountability checkpoint is a real step in the workflow, drawn from the curated patterns’ control posture, not a footnote.</a:t>
            </a:r>
          </a:p>
          <a:p>
            <a:r>
              <a:rPr sz="1300">
                <a:solidFill>
                  <a:srgbClr val="0C1A3A"/>
                </a:solidFill>
              </a:rPr>
              <a:t>• The agent lane and the human lane are explicit; the accountability checkpoint is drawn emphasised — the diagram shows, not asserts, where a named human stays in the loop.</a:t>
            </a:r>
          </a:p>
        </p:txBody>
      </p:sp>
      <p:graphicFrame>
        <p:nvGraphicFramePr>
          <p:cNvPr id="4" name="Table 3"/>
          <p:cNvGraphicFramePr>
            <a:graphicFrameLocks noGrp="1"/>
          </p:cNvGraphicFramePr>
          <p:nvPr/>
        </p:nvGraphicFramePr>
        <p:xfrm>
          <a:off x="548640" y="4023360"/>
          <a:ext cx="11064240" cy="2377440"/>
        </p:xfrm>
        <a:graphic>
          <a:graphicData uri="http://schemas.openxmlformats.org/drawingml/2006/table">
            <a:tbl>
              <a:tblPr firstRow="1" bandRow="1">
                <a:tableStyleId>{5C22544A-7EE6-4342-B048-85BDC9FD1C3A}</a:tableStyleId>
              </a:tblPr>
              <a:tblGrid>
                <a:gridCol w="3688080"/>
                <a:gridCol w="3688080"/>
                <a:gridCol w="3688080"/>
              </a:tblGrid>
              <a:tr h="396240">
                <a:tc>
                  <a:txBody>
                    <a:bodyPr/>
                    <a:lstStyle/>
                    <a:p>
                      <a:r>
                        <a:t>Reference pattern</a:t>
                      </a:r>
                    </a:p>
                  </a:txBody>
                  <a:tcPr/>
                </a:tc>
                <a:tc>
                  <a:txBody>
                    <a:bodyPr/>
                    <a:lstStyle/>
                    <a:p>
                      <a:r>
                        <a:t>Control posture</a:t>
                      </a:r>
                    </a:p>
                  </a:txBody>
                  <a:tcPr/>
                </a:tc>
                <a:tc>
                  <a:txBody>
                    <a:bodyPr/>
                    <a:lstStyle/>
                    <a:p>
                      <a:r>
                        <a:t>Human accountability point</a:t>
                      </a:r>
                    </a:p>
                  </a:txBody>
                  <a:tcPr/>
                </a:tc>
              </a:tr>
              <a:tr h="396240">
                <a:tc>
                  <a:txBody>
                    <a:bodyPr/>
                    <a:lstStyle/>
                    <a:p>
                      <a:r>
                        <a:t>Continuous driver-based planning layer</a:t>
                      </a:r>
                    </a:p>
                  </a:txBody>
                  <a:tcPr/>
                </a:tc>
                <a:tc>
                  <a:txBody>
                    <a:bodyPr/>
                    <a:lstStyle/>
                    <a:p>
                      <a:r>
                        <a:t>Human-In-The-Loop</a:t>
                      </a:r>
                    </a:p>
                  </a:txBody>
                  <a:tcPr/>
                </a:tc>
                <a:tc>
                  <a:txBody>
                    <a:bodyPr/>
                    <a:lstStyle/>
                    <a:p>
                      <a:r>
                        <a:t>The Chief Financial Officer accountable for the financial plan, the forecast, and management reporting.</a:t>
                      </a:r>
                    </a:p>
                  </a:txBody>
                  <a:tcPr/>
                </a:tc>
              </a:tr>
              <a:tr h="396240">
                <a:tc>
                  <a:txBody>
                    <a:bodyPr/>
                    <a:lstStyle/>
                    <a:p>
                      <a:r>
                        <a:t>Behavioural-assumption engine</a:t>
                      </a:r>
                    </a:p>
                  </a:txBody>
                  <a:tcPr/>
                </a:tc>
                <a:tc>
                  <a:txBody>
                    <a:bodyPr/>
                    <a:lstStyle/>
                    <a:p>
                      <a:r>
                        <a:t>Human-In-The-Loop</a:t>
                      </a:r>
                    </a:p>
                  </a:txBody>
                  <a:tcPr/>
                </a:tc>
                <a:tc>
                  <a:txBody>
                    <a:bodyPr/>
                    <a:lstStyle/>
                    <a:p>
                      <a:r>
                        <a:t>The Treasurer accountable for the behavioural-assumption set feeding the ALM model and the interest-rate-risk view.</a:t>
                      </a:r>
                    </a:p>
                  </a:txBody>
                  <a:tcPr/>
                </a:tc>
              </a:tr>
              <a:tr h="396240">
                <a:tc>
                  <a:txBody>
                    <a:bodyPr/>
                    <a:lstStyle/>
                    <a:p>
                      <a:r>
                        <a:t>On-demand ALM scenario pattern</a:t>
                      </a:r>
                    </a:p>
                  </a:txBody>
                  <a:tcPr/>
                </a:tc>
                <a:tc>
                  <a:txBody>
                    <a:bodyPr/>
                    <a:lstStyle/>
                    <a:p>
                      <a:r>
                        <a:t>Human-On-The-Loop</a:t>
                      </a:r>
                    </a:p>
                  </a:txBody>
                  <a:tcPr/>
                </a:tc>
                <a:tc>
                  <a:txBody>
                    <a:bodyPr/>
                    <a:lstStyle/>
                    <a:p>
                      <a:r>
                        <a:t>The Asset-Liability Committee (ALCO), chaired by the Treasurer, accountable for balance-sheet and interest-rate-risk decisions.</a:t>
                      </a:r>
                    </a:p>
                  </a:txBody>
                  <a:tcPr/>
                </a:tc>
              </a:tr>
              <a:tr h="396240">
                <a:tc>
                  <a:txBody>
                    <a:bodyPr/>
                    <a:lstStyle/>
                    <a:p>
                      <a:r>
                        <a:t>Continuous liquidity-surveillance pattern</a:t>
                      </a:r>
                    </a:p>
                  </a:txBody>
                  <a:tcPr/>
                </a:tc>
                <a:tc>
                  <a:txBody>
                    <a:bodyPr/>
                    <a:lstStyle/>
                    <a:p>
                      <a:r>
                        <a:t>Human-On-The-Loop</a:t>
                      </a:r>
                    </a:p>
                  </a:txBody>
                  <a:tcPr/>
                </a:tc>
                <a:tc>
                  <a:txBody>
                    <a:bodyPr/>
                    <a:lstStyle/>
                    <a:p>
                      <a:r>
                        <a:t>The Treasurer accountable for funding strategy, the liquidity buffer, and the contingency-funding plan.</a:t>
                      </a:r>
                    </a:p>
                  </a:txBody>
                  <a:tcPr/>
                </a:tc>
              </a:tr>
              <a:tr h="396240">
                <a:tc>
                  <a:txBody>
                    <a:bodyPr/>
                    <a:lstStyle/>
                    <a:p>
                      <a:r>
                        <a:t>Integrated capital-steering pattern</a:t>
                      </a:r>
                    </a:p>
                  </a:txBody>
                  <a:tcPr/>
                </a:tc>
                <a:tc>
                  <a:txBody>
                    <a:bodyPr/>
                    <a:lstStyle/>
                    <a:p>
                      <a:r>
                        <a:t>Human-Approval-Required</a:t>
                      </a:r>
                    </a:p>
                  </a:txBody>
                  <a:tcPr/>
                </a:tc>
                <a:tc>
                  <a:txBody>
                    <a:bodyPr/>
                    <a:lstStyle/>
                    <a:p>
                      <a:r>
                        <a:t>The Chief Financial Officer accountable for the capital plan, capital allocation, and the stress-testing process.</a:t>
                      </a:r>
                    </a:p>
                  </a:txBody>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spAutoFit/>
          </a:bodyPr>
          <a:lstStyle/>
          <a:p>
            <a:r>
              <a:rPr sz="2200" b="1">
                <a:solidFill>
                  <a:srgbClr val="1F2A44"/>
                </a:solidFill>
              </a:rPr>
              <a:t>Baseline coverage is 33% — 4 metrics recorded, 8 declared seed gaps. None are invented.</a:t>
            </a:r>
          </a:p>
        </p:txBody>
      </p:sp>
      <p:sp>
        <p:nvSpPr>
          <p:cNvPr id="3" name="TextBox 2"/>
          <p:cNvSpPr txBox="1"/>
          <p:nvPr/>
        </p:nvSpPr>
        <p:spPr>
          <a:xfrm>
            <a:off x="548640" y="1188720"/>
            <a:ext cx="11064240" cy="5120640"/>
          </a:xfrm>
          <a:prstGeom prst="rect">
            <a:avLst/>
          </a:prstGeom>
          <a:noFill/>
        </p:spPr>
        <p:txBody>
          <a:bodyPr wrap="square">
            <a:spAutoFit/>
          </a:bodyPr>
          <a:lstStyle/>
          <a:p>
            <a:r>
              <a:rPr sz="1300">
                <a:solidFill>
                  <a:srgbClr val="0C1A3A"/>
                </a:solidFill>
              </a:rPr>
              <a:t>• Baseline coverage is 33% — 4 metrics are recorded by the Move, 8 are declared seed gaps inherited from the Function Pack. None are invented.</a:t>
            </a:r>
          </a:p>
        </p:txBody>
      </p:sp>
      <p:graphicFrame>
        <p:nvGraphicFramePr>
          <p:cNvPr id="4" name="Table 3"/>
          <p:cNvGraphicFramePr>
            <a:graphicFrameLocks noGrp="1"/>
          </p:cNvGraphicFramePr>
          <p:nvPr/>
        </p:nvGraphicFramePr>
        <p:xfrm>
          <a:off x="548640" y="4023360"/>
          <a:ext cx="11064240" cy="2377440"/>
        </p:xfrm>
        <a:graphic>
          <a:graphicData uri="http://schemas.openxmlformats.org/drawingml/2006/table">
            <a:tbl>
              <a:tblPr firstRow="1" bandRow="1">
                <a:tableStyleId>{5C22544A-7EE6-4342-B048-85BDC9FD1C3A}</a:tableStyleId>
              </a:tblPr>
              <a:tblGrid>
                <a:gridCol w="5532120"/>
                <a:gridCol w="5532120"/>
              </a:tblGrid>
              <a:tr h="297180">
                <a:tc>
                  <a:txBody>
                    <a:bodyPr/>
                    <a:lstStyle/>
                    <a:p>
                      <a:r>
                        <a:t>Operating metric</a:t>
                      </a:r>
                    </a:p>
                  </a:txBody>
                  <a:tcPr/>
                </a:tc>
                <a:tc>
                  <a:txBody>
                    <a:bodyPr/>
                    <a:lstStyle/>
                    <a:p>
                      <a:r>
                        <a:t>Source or declared gap</a:t>
                      </a:r>
                    </a:p>
                  </a:txBody>
                  <a:tcPr/>
                </a:tc>
              </a:tr>
              <a:tr h="297180">
                <a:tc>
                  <a:txBody>
                    <a:bodyPr/>
                    <a:lstStyle/>
                    <a:p>
                      <a:r>
                        <a:t>Cost of funds Recorded</a:t>
                      </a:r>
                    </a:p>
                  </a:txBody>
                  <a:tcPr/>
                </a:tc>
                <a:tc>
                  <a:txBody>
                    <a:bodyPr/>
                    <a:lstStyle/>
                    <a:p>
                      <a:r>
                        <a:t>Debt &amp; FX exposure (treasury_kyriba)</a:t>
                      </a:r>
                    </a:p>
                  </a:txBody>
                  <a:tcPr/>
                </a:tc>
              </a:tr>
              <a:tr h="297180">
                <a:tc>
                  <a:txBody>
                    <a:bodyPr/>
                    <a:lstStyle/>
                    <a:p>
                      <a:r>
                        <a:t>Return on equity (ROE) Recorded</a:t>
                      </a:r>
                    </a:p>
                  </a:txBody>
                  <a:tcPr/>
                </a:tc>
                <a:tc>
                  <a:txBody>
                    <a:bodyPr/>
                    <a:lstStyle/>
                    <a:p>
                      <a:r>
                        <a:t>Revenue &amp; cost baseline (finance_performance)</a:t>
                      </a:r>
                    </a:p>
                  </a:txBody>
                  <a:tcPr/>
                </a:tc>
              </a:tr>
              <a:tr h="297180">
                <a:tc>
                  <a:txBody>
                    <a:bodyPr/>
                    <a:lstStyle/>
                    <a:p>
                      <a:r>
                        <a:t>Financial-forecast accuracy Recorded</a:t>
                      </a:r>
                    </a:p>
                  </a:txBody>
                  <a:tcPr/>
                </a:tc>
                <a:tc>
                  <a:txBody>
                    <a:bodyPr/>
                    <a:lstStyle/>
                    <a:p>
                      <a:r>
                        <a:t>FP&amp;A reconciliation (Lakeshore enterprise context load V1)</a:t>
                      </a:r>
                    </a:p>
                  </a:txBody>
                  <a:tcPr/>
                </a:tc>
              </a:tr>
              <a:tr h="297180">
                <a:tc>
                  <a:txBody>
                    <a:bodyPr/>
                    <a:lstStyle/>
                    <a:p>
                      <a:r>
                        <a:t>Planning and close cycle time Recorded</a:t>
                      </a:r>
                    </a:p>
                  </a:txBody>
                  <a:tcPr/>
                </a:tc>
                <a:tc>
                  <a:txBody>
                    <a:bodyPr/>
                    <a:lstStyle/>
                    <a:p>
                      <a:r>
                        <a:t>Month-end close baseline (operations_business_process)</a:t>
                      </a:r>
                    </a:p>
                  </a:txBody>
                  <a:tcPr/>
                </a:tc>
              </a:tr>
              <a:tr h="297180">
                <a:tc>
                  <a:txBody>
                    <a:bodyPr/>
                    <a:lstStyle/>
                    <a:p>
                      <a:r>
                        <a:t>Net interest margin (NIM) Seed gap</a:t>
                      </a:r>
                    </a:p>
                  </a:txBody>
                  <a:tcPr/>
                </a:tc>
                <a:tc>
                  <a:txBody>
                    <a:bodyPr/>
                    <a:lstStyle/>
                    <a:p>
                      <a:r>
                        <a:t>"Net interest margin (NIM)" is not recorded — this function expects it; it is sourced from The general ledger and the ALM system, reconciling interest income and expense against average earning-asset balances.; its absence blocks the baseline and the value forecast.</a:t>
                      </a:r>
                    </a:p>
                  </a:txBody>
                  <a:tcPr/>
                </a:tc>
              </a:tr>
              <a:tr h="297180">
                <a:tc>
                  <a:txBody>
                    <a:bodyPr/>
                    <a:lstStyle/>
                    <a:p>
                      <a:r>
                        <a:t>Liquidity coverage ratio (LCR) Seed gap</a:t>
                      </a:r>
                    </a:p>
                  </a:txBody>
                  <a:tcPr/>
                </a:tc>
                <a:tc>
                  <a:txBody>
                    <a:bodyPr/>
                    <a:lstStyle/>
                    <a:p>
                      <a:r>
                        <a:t>"Liquidity coverage ratio (LCR)" is not recorded — this function expects it; it is sourced from The liquidity-risk and regulatory-reporting systems, computing HQLA and stressed outflows under the LCR rule.; its absence blocks the baseline and the value forecast.</a:t>
                      </a:r>
                    </a:p>
                  </a:txBody>
                  <a:tcPr/>
                </a:tc>
              </a:tr>
              <a:tr h="297180">
                <a:tc>
                  <a:txBody>
                    <a:bodyPr/>
                    <a:lstStyle/>
                    <a:p>
                      <a:r>
                        <a:t>Net stable funding ratio (NSFR) Seed gap</a:t>
                      </a:r>
                    </a:p>
                  </a:txBody>
                  <a:tcPr/>
                </a:tc>
                <a:tc>
                  <a:txBody>
                    <a:bodyPr/>
                    <a:lstStyle/>
                    <a:p>
                      <a:r>
                        <a:t>"Net stable funding ratio (NSFR)" is not recorded — this function expects it; it is sourced from The liquidity-risk and regulatory-reporting systems, computing available and required stable funding under the NSFR rule.; its absence blocks the baseline and the value forecast.</a:t>
                      </a:r>
                    </a:p>
                  </a:txBody>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47120" cy="822960"/>
          </a:xfrm>
          <a:prstGeom prst="rect">
            <a:avLst/>
          </a:prstGeom>
          <a:noFill/>
        </p:spPr>
        <p:txBody>
          <a:bodyPr wrap="square">
            <a:spAutoFit/>
          </a:bodyPr>
          <a:lstStyle/>
          <a:p>
            <a:r>
              <a:rPr sz="2200" b="1">
                <a:solidFill>
                  <a:srgbClr val="1F2A44"/>
                </a:solidFill>
              </a:rPr>
              <a:t>5 architecture decisions are still open — 3 block the production gate and must close before any go-live.</a:t>
            </a:r>
          </a:p>
        </p:txBody>
      </p:sp>
      <p:sp>
        <p:nvSpPr>
          <p:cNvPr id="3" name="TextBox 2"/>
          <p:cNvSpPr txBox="1"/>
          <p:nvPr/>
        </p:nvSpPr>
        <p:spPr>
          <a:xfrm>
            <a:off x="548640" y="1188720"/>
            <a:ext cx="11064240" cy="5120640"/>
          </a:xfrm>
          <a:prstGeom prst="rect">
            <a:avLst/>
          </a:prstGeom>
          <a:noFill/>
        </p:spPr>
        <p:txBody>
          <a:bodyPr wrap="square">
            <a:spAutoFit/>
          </a:bodyPr>
          <a:lstStyle/>
          <a:p>
            <a:r>
              <a:rPr sz="1300">
                <a:solidFill>
                  <a:srgbClr val="0C1A3A"/>
                </a:solidFill>
              </a:rPr>
              <a:t>• 5 architecture decisions are still open. 3 of them block the production gate — closing those is the work that stands between this architecture and a go-live.</a:t>
            </a:r>
          </a:p>
          <a:p>
            <a:r>
              <a:rPr sz="1300">
                <a:solidFill>
                  <a:srgbClr val="0C1A3A"/>
                </a:solidFill>
              </a:rPr>
              <a:t>• The queue is ordered by gate impact — the widest bar is the next decision. A gate-blocking decision is drawn red.</a:t>
            </a:r>
          </a:p>
        </p:txBody>
      </p:sp>
      <p:graphicFrame>
        <p:nvGraphicFramePr>
          <p:cNvPr id="4" name="Table 3"/>
          <p:cNvGraphicFramePr>
            <a:graphicFrameLocks noGrp="1"/>
          </p:cNvGraphicFramePr>
          <p:nvPr/>
        </p:nvGraphicFramePr>
        <p:xfrm>
          <a:off x="548640" y="4023360"/>
          <a:ext cx="11064240" cy="2377440"/>
        </p:xfrm>
        <a:graphic>
          <a:graphicData uri="http://schemas.openxmlformats.org/drawingml/2006/table">
            <a:tbl>
              <a:tblPr firstRow="1" bandRow="1">
                <a:tableStyleId>{5C22544A-7EE6-4342-B048-85BDC9FD1C3A}</a:tableStyleId>
              </a:tblPr>
              <a:tblGrid>
                <a:gridCol w="3688080"/>
                <a:gridCol w="3688080"/>
                <a:gridCol w="3688080"/>
              </a:tblGrid>
              <a:tr h="396240">
                <a:tc>
                  <a:txBody>
                    <a:bodyPr/>
                    <a:lstStyle/>
                    <a:p>
                      <a:r>
                        <a:t>Open architecture decision</a:t>
                      </a:r>
                    </a:p>
                  </a:txBody>
                  <a:tcPr/>
                </a:tc>
                <a:tc>
                  <a:txBody>
                    <a:bodyPr/>
                    <a:lstStyle/>
                    <a:p>
                      <a:r>
                        <a:t>Owner</a:t>
                      </a:r>
                    </a:p>
                  </a:txBody>
                  <a:tcPr/>
                </a:tc>
                <a:tc>
                  <a:txBody>
                    <a:bodyPr/>
                    <a:lstStyle/>
                    <a:p>
                      <a:r>
                        <a:t>Gate</a:t>
                      </a:r>
                    </a:p>
                  </a:txBody>
                  <a:tcPr/>
                </a:tc>
              </a:tr>
              <a:tr h="396240">
                <a:tc>
                  <a:txBody>
                    <a:bodyPr/>
                    <a:lstStyle/>
                    <a:p>
                      <a:r>
                        <a:t>Value cannot be monetised to a hard dollar figure — the gross value range rests on a seed-gap proxy. The CFO will not approve a fabricated return; the case must close the baseline gap first. Blocks gate</a:t>
                      </a:r>
                    </a:p>
                  </a:txBody>
                  <a:tcPr/>
                </a:tc>
                <a:tc>
                  <a:txBody>
                    <a:bodyPr/>
                    <a:lstStyle/>
                    <a:p>
                      <a:r>
                        <a:t>Enterprise Architecture (with the Move sponsor)</a:t>
                      </a:r>
                    </a:p>
                  </a:txBody>
                  <a:tcPr/>
                </a:tc>
                <a:tc>
                  <a:txBody>
                    <a:bodyPr/>
                    <a:lstStyle/>
                    <a:p>
                      <a:r>
                        <a:t>Production-readiness gate</a:t>
                      </a:r>
                    </a:p>
                  </a:txBody>
                  <a:tcPr/>
                </a:tc>
              </a:tr>
              <a:tr h="396240">
                <a:tc>
                  <a:txBody>
                    <a:bodyPr/>
                    <a:lstStyle/>
                    <a:p>
                      <a:r>
                        <a:t>8 baseline metric(s) are seed gaps (coverage 33%): Net interest margin (NIM), Liquidity coverage ratio (LCR), Net stable funding ratio (NSFR), Economic-value-of-equity rate sensitivity, Net-interest-income rate sensitivity, Loan-to-deposit ratio, Deposit beta, Common equity tier 1 (CET1) capital ratio. The case is grounded only on what is recorded. Blocks gate</a:t>
                      </a:r>
                    </a:p>
                  </a:txBody>
                  <a:tcPr/>
                </a:tc>
                <a:tc>
                  <a:txBody>
                    <a:bodyPr/>
                    <a:lstStyle/>
                    <a:p>
                      <a:r>
                        <a:t>Enterprise Architecture (with the Move sponsor)</a:t>
                      </a:r>
                    </a:p>
                  </a:txBody>
                  <a:tcPr/>
                </a:tc>
                <a:tc>
                  <a:txBody>
                    <a:bodyPr/>
                    <a:lstStyle/>
                    <a:p>
                      <a:r>
                        <a:t>Production-readiness gate</a:t>
                      </a:r>
                    </a:p>
                  </a:txBody>
                  <a:tcPr/>
                </a:tc>
              </a:tr>
              <a:tr h="396240">
                <a:tc>
                  <a:txBody>
                    <a:bodyPr/>
                    <a:lstStyle/>
                    <a:p>
                      <a:r>
                        <a:t>Close the 8 seed-gapped operating metric(s) the architecture is reasoned against — when and from which named source. Blocks gate</a:t>
                      </a:r>
                    </a:p>
                  </a:txBody>
                  <a:tcPr/>
                </a:tc>
                <a:tc>
                  <a:txBody>
                    <a:bodyPr/>
                    <a:lstStyle/>
                    <a:p>
                      <a:r>
                        <a:t>CDO / Data Sponsor</a:t>
                      </a:r>
                    </a:p>
                  </a:txBody>
                  <a:tcPr/>
                </a:tc>
                <a:tc>
                  <a:txBody>
                    <a:bodyPr/>
                    <a:lstStyle/>
                    <a:p>
                      <a:r>
                        <a:t>Production-readiness gate</a:t>
                      </a:r>
                    </a:p>
                  </a:txBody>
                  <a:tcPr/>
                </a:tc>
              </a:tr>
              <a:tr h="396240">
                <a:tc>
                  <a:txBody>
                    <a:bodyPr/>
                    <a:lstStyle/>
                    <a:p>
                      <a:r>
                        <a:t>Confirm the curated reference pattern against the tenant’s own systems of record and control environment before the production gate. Informs gate</a:t>
                      </a:r>
                    </a:p>
                  </a:txBody>
                  <a:tcPr/>
                </a:tc>
                <a:tc>
                  <a:txBody>
                    <a:bodyPr/>
                    <a:lstStyle/>
                    <a:p>
                      <a:r>
                        <a:t>Enterprise Architecture</a:t>
                      </a:r>
                    </a:p>
                  </a:txBody>
                  <a:tcPr/>
                </a:tc>
                <a:tc>
                  <a:txBody>
                    <a:bodyPr/>
                    <a:lstStyle/>
                    <a:p>
                      <a:r>
                        <a:t>Production-readiness gate</a:t>
                      </a:r>
                    </a:p>
                  </a:txBody>
                  <a:tcPr/>
                </a:tc>
              </a:tr>
              <a:tr h="396240">
                <a:tc>
                  <a:txBody>
                    <a:bodyPr/>
                    <a:lstStyle/>
                    <a:p>
                      <a:r>
                        <a:t>When can the architecture expand toward the "On-demand ALM scenario pattern" pattern (Human-on-the-loop) — what evidence is required before autonomy widens? Informs gate</a:t>
                      </a:r>
                    </a:p>
                  </a:txBody>
                  <a:tcPr/>
                </a:tc>
                <a:tc>
                  <a:txBody>
                    <a:bodyPr/>
                    <a:lstStyle/>
                    <a:p>
                      <a:r>
                        <a:t>AI Governance</a:t>
                      </a:r>
                    </a:p>
                  </a:txBody>
                  <a:tcPr/>
                </a:tc>
                <a:tc>
                  <a:txBody>
                    <a:bodyPr/>
                    <a:lstStyle/>
                    <a:p>
                      <a:r>
                        <a:t>Autonomy-expansion gate</a:t>
                      </a:r>
                    </a:p>
                  </a:txBody>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