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C1A3A"/>
                </a:solidFill>
              </a:rPr>
              <a:t>Lakeshore Enterprise Finance &amp; Treasury Modernization: Kyriba Rollout, Corporate Controls, Reporting Rationalization, Vendor Optimization &amp; Value Realization</a:t>
            </a:r>
          </a:p>
          <a:p>
            <a:r>
              <a:rPr sz="1100">
                <a:solidFill>
                  <a:srgbClr val="6B7280"/>
                </a:solidFill>
              </a:rPr>
              <a:t>SYNTHETIC — LAKESHORE PILOT — NOT REAL DATA — ABARVA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Lakeshore Enterprise Finance &amp; Treasury Modernization: Kyriba Rollout, Corporate Controls, Reporting Rationalization, Vendor Optimization &amp; Value Realization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The assembled book in eight slides — the whole Move pulled into one CEO / CFO / CIO read, with every other board-grade artifact deck linked. Every figure is produced by the Moves Expert Kernel for this Move; value is a planning range, unrec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KILL — the Move does not pay back on current evidence.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Base-case net return is not positive — the Move does not pay back on current assumptions.</a:t>
            </a:r>
          </a:p>
          <a:p>
            <a:r>
              <a:rPr sz="1300">
                <a:solidFill>
                  <a:srgbClr val="0C1A3A"/>
                </a:solidFill>
              </a:rPr>
              <a:t>• Net value is post the mandatory six-factor haircut. The bars are planning ranges, never single points — and no payback is drawn, because the unit economics are a declared seed gap.</a:t>
            </a:r>
          </a:p>
          <a:p>
            <a:r>
              <a:rPr sz="1300">
                <a:solidFill>
                  <a:srgbClr val="0C1A3A"/>
                </a:solidFill>
              </a:rPr>
              <a:t>• Baseline: 4 of 12 Function-Pack operating metrics are recorded by this Move (coverage 33%). The remaining 8 are precise, named seed gaps — not fabricated values.</a:t>
            </a:r>
          </a:p>
          <a:p>
            <a:r>
              <a:rPr sz="1300">
                <a:solidFill>
                  <a:srgbClr val="0C1A3A"/>
                </a:solidFill>
              </a:rPr>
              <a:t>• Assumptions: 13 named assumptions derived from the Function Pack (haircut factors, value narrative, evidence anchors, pain themes); 12 are seed-gap proxies owned by a "to be confirmed with the tenant" placeholder — no human owner is fabrica</a:t>
            </a:r>
          </a:p>
          <a:p>
            <a:r>
              <a:rPr sz="1300">
                <a:solidFill>
                  <a:srgbClr val="0C1A3A"/>
                </a:solidFill>
              </a:rPr>
              <a:t>• Value: the gross value range is built from the Function Pack's curated value benchmarks — labelled planning ranges, NOT this tenant's own measured unit economics. It is carried as a proxy, so the kernel honestly blocks a claimable dollar pa</a:t>
            </a:r>
          </a:p>
          <a:p>
            <a:r>
              <a:rPr sz="1300">
                <a:solidFill>
                  <a:srgbClr val="0C1A3A"/>
                </a:solidFill>
              </a:rPr>
              <a:t>• Value: 8 operating metric(s) needed to ground the forecast are seed-gapped — the value range is a planning proxy, not a forecast, until they are closed.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The assembled case is sequenced through the curated phase outline — each phase narrows the scope and hardens the same evidence asks rather than papering over them.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The assembled case is sequenced through the curated phase outline — Discover frames the problem, Charter sets the value hypothesis, Design &amp; Plan costs the build, Mobilize designs the handoff. The same evidence asks are named consistently 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The bet does not yet pay back under challenge — and the dossier is honest about why: the value rests on a seed-gap proxy, so no payback line is drawn.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The build is a $6.12M base planning estimate (range $5.20M–$8.56M). The net value is a planning proxy — the kernel honestly draws no payback line, because the unit economics are a seed gap.</a:t>
            </a:r>
          </a:p>
          <a:p>
            <a:r>
              <a:rPr sz="1300">
                <a:solidFill>
                  <a:srgbClr val="0C1A3A"/>
                </a:solidFill>
              </a:rPr>
              <a:t>• Hatched bars are seed-gap proxies — they stand in for absent tenant data and are the evidence asks that gate funding.</a:t>
            </a:r>
          </a:p>
          <a:p>
            <a:r>
              <a:rPr sz="1300">
                <a:solidFill>
                  <a:srgbClr val="0C1A3A"/>
                </a:solidFill>
              </a:rPr>
              <a:t>• The case breaks if the baseline seed gap is not closed — without the missing unit economics the value range is a proxy, not a forecast.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The execution path is decomposed into eight costed workstreams, and 4 of 12 committed value metrics are wired to a recorded baseline — the rest are honest seed gaps, not dropped.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The execution path is decomposed into 8 costed workstreams, and 4 of 12 committed value metrics are wired to a recorded baseline. The remaining 8 are honest seed gaps, carried with a capture plan, not dropped.</a:t>
            </a:r>
          </a:p>
          <a:p>
            <a:r>
              <a:rPr sz="1300">
                <a:solidFill>
                  <a:srgbClr val="0C1A3A"/>
                </a:solidFill>
              </a:rPr>
              <a:t>• Business change is 24% of effort — a credible build-vs-change balance for an AI Move where value depends on people changing how they work.</a:t>
            </a:r>
          </a:p>
          <a:p>
            <a:r>
              <a:rPr sz="1300">
                <a:solidFill>
                  <a:srgbClr val="0C1A3A"/>
                </a:solidFill>
              </a:rPr>
              <a:t>• AI Ops cost is not supplied on this Move yet. The dossier keeps that run-cost gap visible instead of implying the operating cost is zero.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0233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297180">
                <a:tc>
                  <a:txBody>
                    <a:bodyPr/>
                    <a:lstStyle/>
                    <a:p>
                      <a:r>
                        <a:t>Workstream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AI-agent split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AI 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$2.21M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35%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$776K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$716K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30%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Foundational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$163K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15%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Data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$397K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10%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Process redesign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$493K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10%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Change &amp;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$607K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The assembled case is auditable end to end — baseline coverage is 33%, with 4 metrics recorded and 8 declared seed gaps. None is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Baseline coverage is 33% — 4 metrics are recorded by the Move, 8 are declared seed gaps inherited from the Function Pack. The assembled case is auditable end to end; none of these numbers is invented.</a:t>
            </a:r>
          </a:p>
          <a:p>
            <a:r>
              <a:rPr sz="1300">
                <a:solidFill>
                  <a:srgbClr val="0C1A3A"/>
                </a:solidFill>
              </a:rPr>
              <a:t>• The left column is sourced fact; the right column is declared seed gaps — stated, owned and named with their source, not hidden.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0233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75488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 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Confidence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Cost of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4.6 percent (blended)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Debt &amp; FX exposure (treasury_kyriba)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Return on equity (ROE)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11.8 percent (EBITDA margin proxy)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 &amp; cost baseline (finance_performance)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Financial-forecast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 percent (forecast vs actual)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FP&amp;A reconciliation (Lakeshore enterprise context load V1)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2026-05-31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Planning and close cycle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8.5 business days to 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Month-end close baseline (operations_business_process)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2026-05-31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This dossier is the assembled book — and 7 other kernel-derived board-grade decks are its chapters, each linked below for THIS Move.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This dossier is the assembled book — and 7 other kernel-derived board-grade decks are its chapters. Every one is linked below with a working View link that carries this Move’s id, so it renders this Move’s kernel-derived chapter — never the</a:t>
            </a:r>
          </a:p>
          <a:p>
            <a:r>
              <a:rPr sz="1300">
                <a:solidFill>
                  <a:srgbClr val="0C1A3A"/>
                </a:solidFill>
              </a:rPr>
              <a:t>• Each card links straight to that chapter’s deck for this Move.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KILL — the Move does not pay back on current evidence.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Base-case net return is not positive — the Move does not pay back on current assumptions.</a:t>
            </a:r>
          </a:p>
          <a:p>
            <a:r>
              <a:rPr sz="1300">
                <a:solidFill>
                  <a:srgbClr val="0C1A3A"/>
                </a:solidFill>
              </a:rPr>
              <a:t>• Close the seed-gapped operating metrics and supply the tenant’s own spend base so the value forecast can be stated in hard dollars.</a:t>
            </a:r>
          </a:p>
          <a:p>
            <a:r>
              <a:rPr sz="1300">
                <a:solidFill>
                  <a:srgbClr val="0C1A3A"/>
                </a:solidFill>
              </a:rPr>
              <a:t>• Clear the critic blocker: Value cannot be monetised to a hard dollar figure — the gross value range rests on a seed-gap proxy. The CFO will not approve a fabricated return; the case must close the baseline gap first.</a:t>
            </a:r>
          </a:p>
          <a:p>
            <a:r>
              <a:rPr sz="1300">
                <a:solidFill>
                  <a:srgbClr val="0C1A3A"/>
                </a:solidFill>
              </a:rPr>
              <a:t>• Clear the critic blocker: 8 baseline metric(s) are seed gaps (coverage 33%): Net interest margin (NIM), Liquidity coverage ratio (LCR), Net stable funding ratio (NSFR), Economic-value-of-equity rate sensitivity, Net-interest-income rate sen</a:t>
            </a:r>
          </a:p>
          <a:p>
            <a:r>
              <a:rPr sz="1300">
                <a:solidFill>
                  <a:srgbClr val="0C1A3A"/>
                </a:solidFill>
              </a:rPr>
              <a:t>• Capture "Net interest margin (NIM)" from its named data source before the funding gate.</a:t>
            </a:r>
          </a:p>
          <a:p>
            <a:r>
              <a:rPr sz="1300">
                <a:solidFill>
                  <a:srgbClr val="0C1A3A"/>
                </a:solidFill>
              </a:rPr>
              <a:t>• Capture "Liquidity coverage ratio (LCR)" from its named data source before the funding gate.</a:t>
            </a:r>
          </a:p>
          <a:p>
            <a:r>
              <a:rPr sz="1300">
                <a:solidFill>
                  <a:srgbClr val="0C1A3A"/>
                </a:solidFill>
              </a:rPr>
              <a:t>• Capture "Net stable funding ratio (NSFR)" from its named data source before the funding gate.</a:t>
            </a:r>
          </a:p>
          <a:p>
            <a:r>
              <a:rPr sz="1300">
                <a:solidFill>
                  <a:srgbClr val="0C1A3A"/>
                </a:solidFill>
              </a:rPr>
              <a:t>• Net return is negative in the conservative case (-8561340.29). Kill or re-shape if the downside cannot be lifted above zero.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