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C1A3A"/>
                </a:solidFill>
              </a:rPr>
              <a:t>Lakeshore Enterprise Finance &amp; Treasury Modernization: Kyriba Rollout, Corporate Controls, Reporting Rationalization, Vendor Optimization &amp; Value Realization</a:t>
            </a:r>
          </a:p>
          <a:p>
            <a:r>
              <a:rPr sz="1100">
                <a:solidFill>
                  <a:srgbClr val="6B7280"/>
                </a:solidFill>
              </a:rPr>
              <a:t>SYNTHETIC — LAKESHORE PILOT — NOT REAL DATA — ABARVA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Lakeshore Enterprise Finance &amp; Treasury Modernization: Kyriba Rollout, Corporate Controls, Reporting Rationalization, Vendor Optimization &amp; Value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A CFO Pack in 8 slides — a financial challenge, not product advocacy. Every figure is produced by the Moves Expert Kernel for this Move. The verdict is the kernel’s real recommendation ; value is a planning range; the do-not-fund holdbacks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Finance should reject this Move — the case does not pay back on current evidence.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Base-case net return is not positive — the Move does not pay back on current assumptions.</a:t>
            </a:r>
          </a:p>
          <a:p>
            <a:r>
              <a:rPr sz="1300">
                <a:solidFill>
                  <a:srgbClr val="0C1A3A"/>
                </a:solidFill>
              </a:rPr>
              <a:t>• Baseline: 4 of 12 Function-Pack operating metrics are recorded by this Move (coverage 33%). The remaining 8 are precise, named seed gaps — not fabricated values.</a:t>
            </a:r>
          </a:p>
          <a:p>
            <a:r>
              <a:rPr sz="1300">
                <a:solidFill>
                  <a:srgbClr val="0C1A3A"/>
                </a:solidFill>
              </a:rPr>
              <a:t>• Assumptions: 13 named assumptions derived from the Function Pack (haircut factors, value narrative, evidence anchors, pain themes); 12 are seed-gap proxies owned by a "to be confirmed with the tenant" placeholder — no human owner is fabrica</a:t>
            </a:r>
          </a:p>
          <a:p>
            <a:r>
              <a:rPr sz="1300">
                <a:solidFill>
                  <a:srgbClr val="0C1A3A"/>
                </a:solidFill>
              </a:rPr>
              <a:t>• Value: the gross value range is built from the Function Pack's curated value benchmarks — labelled planning ranges, NOT this tenant's own measured unit economics. It is carried as a proxy, so the kernel honestly blocks a claimable dollar pa</a:t>
            </a:r>
          </a:p>
          <a:p>
            <a:r>
              <a:rPr sz="1300">
                <a:solidFill>
                  <a:srgbClr val="0C1A3A"/>
                </a:solidFill>
              </a:rPr>
              <a:t>• Value: 8 operating metric(s) needed to ground the forecast are seed-gapped — the value range is a planning proxy, not a forecast, until they are closed.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value is a planning range built on curated benchmark proxies — the net is a proxy ceiling, not a verified return, because the unit economics are a seed gap.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Investment is $5.20M–$8.56M; the net value band is $61–$165 — but that is a proxy ceiling, not a verified return, because the unit economics are a seed gap.</a:t>
            </a:r>
          </a:p>
          <a:p>
            <a:r>
              <a:rPr sz="1300">
                <a:solidFill>
                  <a:srgbClr val="0C1A3A"/>
                </a:solidFill>
              </a:rPr>
              <a:t>• The value bar is hatched — it rests on a seed-gap proxy, so no payback or ROI is drawn. A single-point return is never shown.</a:t>
            </a:r>
          </a:p>
          <a:p>
            <a:r>
              <a:rPr sz="1300">
                <a:solidFill>
                  <a:srgbClr val="0C1A3A"/>
                </a:solidFill>
              </a:rPr>
              <a:t>• Value is built from the curated Function-Pack value benchmarks — labelled planning ranges — and discounted by the mandatory six-factor haircut. The dollar conversion needs the tenant’s own spend base and the seed-gapped operating metrics; u</a:t>
            </a:r>
          </a:p>
          <a:p>
            <a:r>
              <a:rPr sz="1300">
                <a:solidFill>
                  <a:srgbClr val="0C1A3A"/>
                </a:solidFill>
              </a:rPr>
              <a:t>• Payback — not computable. Monetisation is blocked; the case models net value, not cash, and never crosses break-even.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92480">
                <a:tc>
                  <a:txBody>
                    <a:bodyPr/>
                    <a:lstStyle/>
                    <a:p>
                      <a:r>
                        <a:t>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Net value (3-yr, post-haircut)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$165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$6.12M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$8.56M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case-moving assumptions are ranked by sensitivity — the seed-gap proxies are the highest-leverage evidence the funding spend must replace with measured tenant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The top 5 assumptions are ranked by how much they move the case. 5 of them are seed-gap proxies — assumptions standing in for tenant data that has not yet been captured.</a:t>
            </a:r>
          </a:p>
          <a:p>
            <a:r>
              <a:rPr sz="1300">
                <a:solidFill>
                  <a:srgbClr val="0C1A3A"/>
                </a:solidFill>
              </a:rPr>
              <a:t>• A hatched bar is a seed-gap proxy; a solid bar is grounded. Finance should challenge the widest bars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case breaks the same way it is built — on the missing unit economics. Until the seed gaps close, every dollar in the case is a proxy, not a forecast.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A CFO Pack must show what breaks the case before it shows the upside. For this Move the breakpoint and the case rest on the same missing number — the unit economics.</a:t>
            </a:r>
          </a:p>
          <a:p>
            <a:r>
              <a:rPr sz="1300">
                <a:solidFill>
                  <a:srgbClr val="0C1A3A"/>
                </a:solidFill>
              </a:rPr>
              <a:t>• The widest movers are the seed-gap proxies. Until they are measured, the case can swing in either direction without warning.</a:t>
            </a:r>
          </a:p>
          <a:p>
            <a:r>
              <a:rPr sz="1300">
                <a:solidFill>
                  <a:srgbClr val="0C1A3A"/>
                </a:solidFill>
              </a:rPr>
              <a:t>• The conservative case cannot be expressed in hard dollars — the value rests on a seed-gap proxy. A CFO funds the downside, not the point estimate; this case has no verifiable downside until the baseline gaps close. That is a withhold-capita</a:t>
            </a:r>
          </a:p>
          <a:p>
            <a:r>
              <a:rPr sz="1300">
                <a:solidFill>
                  <a:srgbClr val="0C1A3A"/>
                </a:solidFill>
              </a:rPr>
              <a:t>• Net interest margin (NIM) — "Net interest margin (NIM)" is not recorded — this function expects it; it is sourced from The general ledger and the ALM system, reconciling interest income and expense against average earning-asset balances.; i</a:t>
            </a:r>
          </a:p>
          <a:p>
            <a:r>
              <a:rPr sz="1300">
                <a:solidFill>
                  <a:srgbClr val="0C1A3A"/>
                </a:solidFill>
              </a:rPr>
              <a:t>• Liquidity coverage ratio (LCR) — "Liquidity coverage ratio (LCR)" is not recorded — this function expects it; it is sourced from The liquidity-risk and regulatory-reporting systems, computing HQLA and stressed outflows under the LCR rule.; </a:t>
            </a:r>
          </a:p>
          <a:p>
            <a:r>
              <a:rPr sz="1300">
                <a:solidFill>
                  <a:srgbClr val="0C1A3A"/>
                </a:solidFill>
              </a:rPr>
              <a:t>• Net stable funding ratio (NSFR) — "Net stable funding ratio (NSFR)" is not recorded — this function expects it; it is sourced from The liquidity-risk and regulatory-reporting systems, computing available and required stable funding under th</a:t>
            </a:r>
          </a:p>
          <a:p>
            <a:r>
              <a:rPr sz="1300">
                <a:solidFill>
                  <a:srgbClr val="0C1A3A"/>
                </a:solidFill>
              </a:rPr>
              <a:t>• Economic-value-of-equity rate sensitivity — "Economic-value-of-equity rate sensitivity" is not recorded — this function expects it; it is sourced from The ALM system, running the EVE measurement under the institution’s rate-shock scenario 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94360">
                <a:tc>
                  <a:txBody>
                    <a:bodyPr/>
                    <a:lstStyle/>
                    <a:p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-$8.56M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figure a CFO funds against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-$6.12M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Proxy ceiling — rests on the seed gap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-$5.20M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Planning upper bound — not a commitment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5 things must be explicitly withheld at this gate — each with the condition that releases it. A CFO Pack without an explicit holdback list is a hard fail.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A CFO Pack without an explicit holdback list is a hard fail. These are the 5 things finance should withhold at this gate — each with the condition that releases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Value will be proven, not asserted — every metric with a recorded baseline is measurable from day one; the seed-gapped metrics are honestly carried as not-yet-measurable.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Value will be proven, not asserted. 4 of the 12 Tower metrics are measurable today against a recorded baseline; the seed-gapped metrics are honestly carried as not-yet-measurable.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2971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Net interest margin (NIM)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recorded —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 sponsor (to be confirmed with the tenant)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Cost of funds Measurable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 percent (blended)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 sponsor (to be confirmed with the tenant)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Liquidity coverage ratio (LCR)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recorded —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 sponsor (to be confirmed with the tenant)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Net stable funding ratio (NSFR)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recorded —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 sponsor (to be confirmed with the tenant)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Economic-value-of-equity rate sensitivity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recorded —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 sponsor (to be confirmed with the tenant)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Net-interest-income rate sensitivity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recorded —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 sponsor (to be confirmed with the tenant)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Loan-to-deposit ratio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recorded — seed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Move sponsor (to be confirmed with the tenant)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Finance can audit every number in this pack — 4 metrics trace to a named source, and the 8 missing ones are declared seed gaps, never silent.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Finance can audit this pack end to end. Baseline coverage is 33% — 4 metrics trace to a named source; every missing one is a declared seed gap, never a silent omission.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75488">
                <a:tc>
                  <a:txBody>
                    <a:bodyPr/>
                    <a:lstStyle/>
                    <a:p>
                      <a:r>
                        <a:t>Recorded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Cost of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 percent (blended)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Debt &amp; FX exposure (treasury_kyriba)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Return on equity (ROE)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11.8 percent (EBITDA margin proxy)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&amp; cost baseline (finance_performance)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Financial-forecast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 percent (forecast vs actual)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FP&amp;A reconciliation (Lakeshore enterprise context load V1)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Planning and close cycle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8.5 business days to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Month-end close baseline (operations_business_process)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