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B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B9B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COSTED BUSINESS-CASE PACK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7839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AI-enabled Population Health &amp; Clinical Performance Command Center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38328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Health System  ·  healthcare-provider  ·  Population health &amp; value-based care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4114800"/>
            <a:ext cx="4206240" cy="841248"/>
          </a:xfrm>
          <a:prstGeom prst="rect">
            <a:avLst/>
          </a:prstGeom>
          <a:solidFill>
            <a:srgbClr val="0B4A91"/>
          </a:solidFill>
          <a:ln w="12700">
            <a:solidFill>
              <a:srgbClr val="0B4A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42245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FD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VERDICT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47488" y="4114800"/>
            <a:ext cx="657727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Base-case net return is not positive — the Move does not pay back on current assumptions.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630936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E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2026-06-06 · synthetic, inspired-by context — not confidential client data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795967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/ 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 ·  BOARD ANSWER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KILL — the Move does not pay back on current assumptions.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— do not fund — Base-case net return is not positive — the Move does not pay back on current assumptions.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3432475"/>
            <a:ext cx="11313871" cy="1730411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560491"/>
            <a:ext cx="11057839" cy="147437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kernel verdict and the headline economics before any funding decision.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sponsor (to be confirmed with the tenant)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Blocked · 12 open gaps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phase gate for this Move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795967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/ 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 ·  INHERITED OUTLINE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deck inherits the curated Population health &amp; value-based care business-case outline — 8 sections, structure not improvised.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answer — State the funding ask, the headline value separated into cost-trend, RAF, and quality components, the time-to-cash band, and the go / hold recommendation.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economics model — Anchor every value claim to a measured baseline metric and to the actual contract terms. Where a baseline is a seed gap, say so and state what closing it requires before funding.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forecast and haircuts — Build the forecast from the value-model benchmark ranges, then apply each dominant haircut — contract structure, attribution stability, data readiness, quality-gate risk — explicitly, with the math shown. Keep cost, RAF, and quality value separate.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Cost, effort, and cash timing — Cost the build and integration, and state when value actually lands — shared-savings reconciliation lags the performance year, so the cash-timing curve is part of the case.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and downside — Show the case under a missed quality gate, high attribution churn, and a weaker benchmark outcome. State the downside the CFO is underwriting, including any two-sided-risk exposure.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and audit posture — For any RAF-capture component, state the coding-compliance control and the RADV-audit posture — accuracy, not maximisation, is the objective.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criteria and conditions to proceed — Name the conditions under which the Move should not be funded and the evidence required before the gate.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 measurement plan — State which operating metrics Tower will track to prove the forecast, and the cadence — including the lagged settlement metrics.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deck follows the curated, function-calibrated structure.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Function Pack (curated)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source · as of 2026-06-06 · confidence High · No open gaps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curated section is answered against the Move’s data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795967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/ 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 ·  INVESTMENT CASE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 is a $6.03M base planning estimate — a range, derived from the Function Pack archetypes, NOT a quote.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81732" y="1700784"/>
            <a:ext cx="6428232" cy="2999232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748" y="1828800"/>
            <a:ext cx="6172200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change is 23% of effort — a credible build-vs-change balance for an AI Move where value depends on people changing how they work.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investment envelope and where the money goes.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sponsor (to be confirmed with the tenant)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Medium · 1 open gap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client-specific estimate before any funding commitment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795967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/ 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 ·  VALUE CASE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is a planning range built on curated benchmark proxies — the kernel honestly blocks a claimable dollar payback.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04622" y="1700784"/>
            <a:ext cx="8582451" cy="4187952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2638" y="1828800"/>
            <a:ext cx="8326419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value is honestly discounted, not optimistic.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sponsor (to be confirmed with the tenant)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Low · 1 open gap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seed-gapped metrics that ground the forecast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795967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/ 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 ·  SENSITIVITY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case is shown as a range — base, conservative, upside — never a single point. The widest movers are the evidence asks.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063267" y="1700784"/>
            <a:ext cx="6065161" cy="2999232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1283" y="1828800"/>
            <a:ext cx="5809129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 the case: The case breaks if the baseline seed gap is not closed — without the missing unit economics the value range is a proxy, not a forecast.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breaks the case before funding it.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sponsor (to be confirmed with the tenant)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Medium · 3 open gaps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case-moving assumptions before funding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795967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/ 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 ·  EVIDENCE AND GAPS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coverage is 0% — 0 metrics recorded, 12 declared seed gaps. None are invented.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recorded · 12 seed gaps · 0% coverage.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468880"/>
            <a:ext cx="11057839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loss ratio (MLR) — "Medical loss ratio (MLR)" is not recorded — this function expects it; it is sourced from Payer settlement and premium data reconciled against the claims feed.; its absence blocks the baseline and the value forecast. (Payer settlement and premium data reconciled against the claims feed.)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Shared-savings achievement rate — "Shared-savings achievement rate" is not recorded — this function expects it; it is sourced from CMS or payer benchmark-and-settlement report for the contract.; its absence blocks the baseline and the value forecast. (CMS or payer benchmark-and-settlement report for the contract.)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 score capture / accuracy — "RAF score capture / accuracy" is not recorded — this function expects it; it is sourced from HCC coding from EHR encounters reconciled against claims and the risk-adjustment submission.; its absence blocks the baseline and the value forecast. (HCC coding from EHR encounters reconciled against claims and the risk-adjustment submission.)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composite / Star rating — "Quality composite / Star rating" is not recorded — this function expects it; it is sourced from Claims-based and EHR-based quality-measure calculation reconciled against the payer or CMS quality report.; its absence blocks the baseline and the value forecast. (Claims-based and EHR-based quality-measure calculation reconciled against the payer or CMS quality report.)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stability / retention — "Attribution stability / retention" is not recorded — this function expects it; it is sourced from Period-over-period payer attribution files.; its absence blocks the baseline and the value forecast. (Period-over-period payer attribution files.)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Per-member-per-month cost trend — "Per-member-per-month cost trend" is not recorded — this function expects it; it is sourced from Payer claims feed, risk-normalised, compared period over period.; its absence blocks the baseline and the value forecast. (Payer claims feed, risk-normalised, compared period over period.)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every claim back to a source or a declared gap.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sponsor (to be confirmed with the tenant)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Low · 12 open gaps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seed gaps before build funding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795967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/ 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  ·  RECOMMENDATION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KILL — the Move does not pay back on current assumptions.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— do not fund — Base-case net return is not positive — the Move does not pay back on current assumptions.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743200"/>
            <a:ext cx="11057839" cy="310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trigger: Net return is negative in the conservative case (-8447828.15). Kill or re-shape if the downside cannot be lifted above zero.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trigger: The baseline seed gap that blocks monetisation is not closed before the gate — without it the return is unverifiable.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trigger: Baseline coverage stays below acceptable level — 12 seed gap(s) remain unresolved at the gate.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 will measure: Medical loss ratio (MLR) (baseline Seed gap — not measurable yet)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 will measure: Shared-savings achievement rate (baseline Seed gap — not measurable yet)</a:t>
            </a:r>
            <a:endParaRPr lang="en-US" sz="1050" dirty="0"/>
          </a:p>
          <a:p>
            <a:pPr marL="177800" indent="-177800">
              <a:lnSpc>
                <a:spcPct val="114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 will measure: RAF score capture / accuracy (baseline Seed gap — not measurable yet)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funding decision the kernel’s verdict supports.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sponsor (to be confirmed with the tenant)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Blocked · 12 open gaps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Re-present once the named kill triggers are cleared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AbarVa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Population Health &amp; Clinical Performance Command Center — Costed Business-Case Pack</dc:title>
  <dc:subject>Costed Business-Case Pack</dc:subject>
  <dc:creator>AbarVa · Moves Expert Kernel</dc:creator>
  <cp:lastModifiedBy>AbarVa · Moves Expert Kernel</cp:lastModifiedBy>
  <cp:revision>1</cp:revision>
  <dcterms:created xsi:type="dcterms:W3CDTF">2026-06-06T17:53:52Z</dcterms:created>
  <dcterms:modified xsi:type="dcterms:W3CDTF">2026-06-06T17:53:52Z</dcterms:modified>
</cp:coreProperties>
</file>