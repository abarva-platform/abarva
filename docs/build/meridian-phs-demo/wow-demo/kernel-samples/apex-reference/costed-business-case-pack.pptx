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ABARVA · MOVES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COSTED BUSINESS-CASE PACK · BOARD-GRADE REFERENCE ARTIFACT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783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Center AI Routing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2670048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Retail  ·  apex-retail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163824"/>
            <a:ext cx="79616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board deck in 12 slides. Every figure is produced by the Moves Expert Kernel from Apex’s audited substrate. Where data is not recorded it is declared a seed gap — never invented. The honest verdict is </a:t>
            </a:r>
            <a:pPr indent="0" marL="0">
              <a:lnSpc>
                <a:spcPct val="125000"/>
              </a:lnSpc>
              <a:buNone/>
            </a:pPr>
            <a:r>
              <a:rPr lang="en-US" sz="1250" b="1" i="1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fund the next shaping gate, not the full build. The words on every slide are editable; the exhibits match the reference deck.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4818888"/>
            <a:ext cx="11057839" cy="0"/>
          </a:xfrm>
          <a:prstGeom prst="line">
            <a:avLst/>
          </a:prstGeom>
          <a:noFill/>
          <a:ln w="9525">
            <a:solidFill>
              <a:srgbClr val="D8D3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983480"/>
            <a:ext cx="26273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331388" y="4983480"/>
            <a:ext cx="26273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— seed gap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95848" y="4983480"/>
            <a:ext cx="26273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860307" y="4983480"/>
            <a:ext cx="26273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2026-06-06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ANSWER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 ·  BOARD ANSWER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shaping spend only — full autonomy is not yet fundable until the cost-per-contact gap is closed.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841248"/>
          </a:xfrm>
          <a:prstGeom prst="rect">
            <a:avLst/>
          </a:prstGeom>
          <a:solidFill>
            <a:srgbClr val="F7ECD6"/>
          </a:solidFill>
          <a:ln w="12700">
            <a:solidFill>
              <a:srgbClr val="7A4F0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01952"/>
            <a:ext cx="1069207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spc="100" kern="0" dirty="0">
                <a:solidFill>
                  <a:srgbClr val="7A4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DECISION   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 — fund the next gate, do not fund the full build yet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798064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1 — HEADLINE ECONOMICS AT A GLANCE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3054096"/>
            <a:ext cx="2123785" cy="914400"/>
          </a:xfrm>
          <a:prstGeom prst="rect">
            <a:avLst/>
          </a:prstGeom>
          <a:solidFill>
            <a:srgbClr val="F3F0E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3054096"/>
            <a:ext cx="41148" cy="914400"/>
          </a:xfrm>
          <a:prstGeom prst="rect">
            <a:avLst/>
          </a:prstGeom>
          <a:solidFill>
            <a:srgbClr val="070707"/>
          </a:solidFill>
          <a:ln w="12700">
            <a:solidFill>
              <a:srgbClr val="07070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3145536"/>
            <a:ext cx="1922617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spc="5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(BASE)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$2.20M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$1.87M–$3.09M range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800441" y="3054096"/>
            <a:ext cx="2123785" cy="914400"/>
          </a:xfrm>
          <a:prstGeom prst="rect">
            <a:avLst/>
          </a:prstGeom>
          <a:solidFill>
            <a:srgbClr val="F3F0E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00441" y="3054096"/>
            <a:ext cx="41148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8457" y="3145536"/>
            <a:ext cx="1922617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spc="5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VALUE (3-YR, BASE)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$11.3M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$8.28M–$14.3M · post-haircut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033955" y="3054096"/>
            <a:ext cx="2123785" cy="914400"/>
          </a:xfrm>
          <a:prstGeom prst="rect">
            <a:avLst/>
          </a:prstGeom>
          <a:solidFill>
            <a:srgbClr val="F3F0E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33955" y="3054096"/>
            <a:ext cx="41148" cy="914400"/>
          </a:xfrm>
          <a:prstGeom prst="rect">
            <a:avLst/>
          </a:prstGeom>
          <a:solidFill>
            <a:srgbClr val="8B1F0F"/>
          </a:solidFill>
          <a:ln w="12700">
            <a:solidFill>
              <a:srgbClr val="8B1F0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1971" y="3145536"/>
            <a:ext cx="1922617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spc="5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B1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gap — not computable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267468" y="3054096"/>
            <a:ext cx="2123785" cy="914400"/>
          </a:xfrm>
          <a:prstGeom prst="rect">
            <a:avLst/>
          </a:prstGeom>
          <a:solidFill>
            <a:srgbClr val="F3F0E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7468" y="3054096"/>
            <a:ext cx="41148" cy="914400"/>
          </a:xfrm>
          <a:prstGeom prst="rect">
            <a:avLst/>
          </a:prstGeom>
          <a:solidFill>
            <a:srgbClr val="7A4F01"/>
          </a:solidFill>
          <a:ln w="12700">
            <a:solidFill>
              <a:srgbClr val="7A4F0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5484" y="3145536"/>
            <a:ext cx="1922617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spc="5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BLOCKERS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7A4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seed gaps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500982" y="3054096"/>
            <a:ext cx="2123785" cy="914400"/>
          </a:xfrm>
          <a:prstGeom prst="rect">
            <a:avLst/>
          </a:prstGeom>
          <a:solidFill>
            <a:srgbClr val="F3F0E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0982" y="3054096"/>
            <a:ext cx="41148" cy="914400"/>
          </a:xfrm>
          <a:prstGeom prst="rect">
            <a:avLst/>
          </a:prstGeom>
          <a:solidFill>
            <a:srgbClr val="070707"/>
          </a:solidFill>
          <a:ln w="12700">
            <a:solidFill>
              <a:srgbClr val="07070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28998" y="3145536"/>
            <a:ext cx="1922617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spc="5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Shaping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→ Design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66928" y="4169664"/>
            <a:ext cx="5419192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4169664"/>
            <a:ext cx="45720" cy="17556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279392"/>
            <a:ext cx="514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" y="4553712"/>
            <a:ext cx="5126584" cy="12618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cost-per-contact baseline capture — the single gate-closing item.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data and platform foundation shaping (intent / transcript unification design, model-gateway scoping).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transcript-use privacy review through to a cleared verdict.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05576" y="4169664"/>
            <a:ext cx="5419192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05576" y="4169664"/>
            <a:ext cx="45720" cy="1755648"/>
          </a:xfrm>
          <a:prstGeom prst="rect">
            <a:avLst/>
          </a:prstGeom>
          <a:solidFill>
            <a:srgbClr val="8B1F0F"/>
          </a:solidFill>
          <a:ln w="12700">
            <a:solidFill>
              <a:srgbClr val="8B1F0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1880" y="4279392"/>
            <a:ext cx="514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8B1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FUND YET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51880" y="4553712"/>
            <a:ext cx="5126584" cy="12618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AI-routing build and scale-out — the value range is a proxy until the cost-per-contact baseline lands.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commitment that assumes the $11.3M base net value as a hard return.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IVR-replacement scope — the WFM lead is on record for agent-assist; autonomy beyond assist is unfunded and unproven.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next shaping gate — not full build funding.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(Executive Sponsor)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Blocked · 4 open gaps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Charter-to-Design shaping gate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 ·  WHY NOW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Containment is stuck at 28% while handle time rises and agents run hot — the routing problem is structural, not seasonal.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11057839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 is plateaued and agents run hot. Containment has plateaued at 28% against a stated 40% KPI target while Average Handle Time is rising — easy contacts are deflected, so the calls that reach agents are harder. Repeat transfers and CSAT both read as mis-routing — the problem is now capacity-bound, not a tooling preference.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615184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2 — CURRENT-STATE BASELINE AGAINST THE MOVE TARGET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7624" y="2743200"/>
            <a:ext cx="8156448" cy="3328416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5640" y="2871216"/>
            <a:ext cx="7900416" cy="307238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problem is real and time-sensitive.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Customer Care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sources · as of 2026-04-30 · confidence Medium · 2 open gaps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 reconciliation (James Wright, due 2026-05-08)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FUNDING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 ·  WHAT WE ARE FUNDING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funding an agent-assist routing layer over NICE CXone — not an IVR replacement and not autonomous customer-facing inference.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11057839" cy="5852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funding an agent-assist routing layer over NICE CXone — not an IVR replacement, and not autonomous customer-facing inference. The three lists below are the funded boundary.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542032"/>
            <a:ext cx="3564026" cy="34198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542032"/>
            <a:ext cx="45720" cy="341985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651760"/>
            <a:ext cx="32897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2926080"/>
            <a:ext cx="3271418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 model and agent-assist layer over NICE CXone (8 workstreams).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data foundation — intent / transcript unification and a model gateway.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redesign of the Customer Care routing workflow.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Change, adoption and a 6-week hypercare window.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Year-1 run and operations.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13834" y="2542032"/>
            <a:ext cx="3564026" cy="34198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3834" y="2542032"/>
            <a:ext cx="45720" cy="3419856"/>
          </a:xfrm>
          <a:prstGeom prst="rect">
            <a:avLst/>
          </a:prstGeom>
          <a:solidFill>
            <a:srgbClr val="8B1F0F"/>
          </a:solidFill>
          <a:ln w="12700">
            <a:solidFill>
              <a:srgbClr val="8B1F0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0138" y="2651760"/>
            <a:ext cx="32897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8B1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60138" y="2926080"/>
            <a:ext cx="3271418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IVR replacement — the chosen shape is agent-assist, not deflection.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Autonomous, customer-facing inference without human accountability.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Non-Customer-Care queues (sales, retention) — out of this Move.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60741" y="2542032"/>
            <a:ext cx="3564026" cy="34198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0741" y="2542032"/>
            <a:ext cx="45720" cy="3419856"/>
          </a:xfrm>
          <a:prstGeom prst="rect">
            <a:avLst/>
          </a:prstGeom>
          <a:solidFill>
            <a:srgbClr val="0B4A91"/>
          </a:solidFill>
          <a:ln w="12700">
            <a:solidFill>
              <a:srgbClr val="0B4A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07045" y="2651760"/>
            <a:ext cx="32897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ACCOUNTABILITIES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07045" y="2926080"/>
            <a:ext cx="3271418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Funding, scope, go-live and kill decisions stay human-accountable (RACI §7).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WFM lead retains operating-model accountability after go-live.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 retains accountability for the transcript-use review.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scope boundary before costing it.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sources · as of 2026-06-06 · confidence Medium · 1 open gap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sign-off at the Design gate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CASE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 ·  INVESTMENT CASE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build is a $2.2M base bet — but 23% of it is business change, and that is the half that must not be cut to flatter the number.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11057839" cy="5852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is a $2.20M base bet — range $1.87M to $3.09M. The waterfall shows where the money goes; the change lane is the execution risk to protect, not trim.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505456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4 — INVESTMENT WATERFALL: WHERE THE $2.20M BASE GOES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2937589"/>
            <a:ext cx="6006108" cy="2811622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65605"/>
            <a:ext cx="5750076" cy="255559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91324" y="2505456"/>
            <a:ext cx="503344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EIGHT-WORKSTREAM BREAKDOWN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91324" y="2779776"/>
          <a:ext cx="5033443" cy="914400"/>
        </p:xfrm>
        <a:graphic>
          <a:graphicData uri="http://schemas.openxmlformats.org/drawingml/2006/table">
            <a:tbl>
              <a:tblPr/>
              <a:tblGrid>
                <a:gridCol w="2315384"/>
                <a:gridCol w="1107357"/>
                <a:gridCol w="906020"/>
                <a:gridCol w="70468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WORKSTREAM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DUR.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build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$800K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mo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4A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$290K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mo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4A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$194K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4A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Foundational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$88K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mo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4A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governance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$121K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mo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4A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redesign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$131K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4A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 &amp; adoption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$257K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mo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4A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(year-1 operations)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$322K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mo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4A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— base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$2.20M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591324" y="5449824"/>
            <a:ext cx="5033443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change is 23% of effort — a credible build-vs-change balance for an AI Move where value depends on people changing how they work.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investment envelope and where the money goes.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Iyer (Program Lead)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Medium · 1 open gap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sign-off before build funding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CASE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 ·  VALUE CASE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Gross value is discounted 43% before it is claimed — adoption and data readiness take the two largest cuts.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11057839" cy="5852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3-year value of $19.7M is discounted 43% by the mandatory six-factor haircut, landing at a net $11.3M. Adoption and data readiness take the two largest cuts.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505456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5 — GROSS-TO-NET VALUE BRIDGE: EVERY HAIRCUT, IN DOLLARS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2805510"/>
            <a:ext cx="6227265" cy="3075781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933526"/>
            <a:ext cx="5971233" cy="28197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12481" y="2505456"/>
            <a:ext cx="481228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SIX-FACTOR HAIRCUT DETAIL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481" y="2779776"/>
          <a:ext cx="4812286" cy="914400"/>
        </p:xfrm>
        <a:graphic>
          <a:graphicData uri="http://schemas.openxmlformats.org/drawingml/2006/table">
            <a:tbl>
              <a:tblPr/>
              <a:tblGrid>
                <a:gridCol w="2021160"/>
                <a:gridCol w="866211"/>
                <a:gridCol w="962457"/>
                <a:gridCol w="9624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HAIRCUT FACTOR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DISCOUNT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Adoption risk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readiness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dependency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complexity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burden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 strength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value is honestly discounted, not optimistic.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Iyer (Program Lead)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Low · 1 open gap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Cost-per-contact baseline capture (2026-05-15)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AND SENSITIVITY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  ·  PAYBACK AND SENSITIVITY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Payback is not computable — and that is the honest answer; the case breaks on the cost-per-contact seed gap, not on the model.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676656"/>
          </a:xfrm>
          <a:prstGeom prst="rect">
            <a:avLst/>
          </a:prstGeom>
          <a:solidFill>
            <a:srgbClr val="F7ECD6"/>
          </a:solidFill>
          <a:ln w="12700">
            <a:solidFill>
              <a:srgbClr val="7A4F0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83664"/>
            <a:ext cx="1069207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spc="100" kern="0" dirty="0">
                <a:solidFill>
                  <a:srgbClr val="7A4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 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computable — monetisation is blocked by the cost-per-contact seed gap. This pack shows no payback number rather than a fabricated one.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63347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6 — SENSITIVITY TORNADO: WHAT MOVES THE CASE MOST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" y="3005968"/>
            <a:ext cx="6448422" cy="2784591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133984"/>
            <a:ext cx="6192390" cy="252855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033638" y="2633472"/>
            <a:ext cx="45911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THREE-SCENARIO RANGE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33638" y="2889504"/>
          <a:ext cx="4591129" cy="914400"/>
        </p:xfrm>
        <a:graphic>
          <a:graphicData uri="http://schemas.openxmlformats.org/drawingml/2006/table">
            <a:tbl>
              <a:tblPr/>
              <a:tblGrid>
                <a:gridCol w="1285516"/>
                <a:gridCol w="1193694"/>
                <a:gridCol w="1101871"/>
                <a:gridCol w="10100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VALUE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PAYBACK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$2.20M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$11.3M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Conservative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$3.09M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$8.28M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Upside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$1.87M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$14.3M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7033638" y="4114800"/>
            <a:ext cx="4591129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6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BREAKS THE CASE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breaks if the baseline seed gap is not closed — without the missing unit economics the value range is a proxy, not a forecast.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breaks the case before funding the build.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Brendan Fox (CS Ops)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Blocked · 1 open gap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Cost-per-contact baseline (2026-05-15)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  · 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phase ends on a gate where the board can kill — Phase 1 is the first place value is verifiable, and the first place to stop.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11057839" cy="5852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months across four phases, each ending on a gate. Phase 0 is foundational and unlocks no value; Phase 1 is the first place value is verifiable — and the first place the board can stop.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505456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7 — PHASED ROADMAP: 30 MONTHS, FOUR GATES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17112" y="2615184"/>
            <a:ext cx="4157472" cy="2011680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5128" y="2743200"/>
            <a:ext cx="3901440" cy="17556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4572000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DECISIONS — WHAT IS DECIDED AT EACH GATE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809744"/>
          <a:ext cx="11057839" cy="914400"/>
        </p:xfrm>
        <a:graphic>
          <a:graphicData uri="http://schemas.openxmlformats.org/drawingml/2006/table">
            <a:tbl>
              <a:tblPr/>
              <a:tblGrid>
                <a:gridCol w="884627"/>
                <a:gridCol w="2211568"/>
                <a:gridCol w="6413547"/>
                <a:gridCol w="154809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AT THE GATE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KILL POINT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 complete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intent / transcript data unified and the model gateway stood up before any build spend.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Killable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value verified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 containment +4 pts and AHT down on pilot queues — kill if the pilot does not move the metric.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Killable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Scale-out approved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 scale-out only if the redesigned routing process holds toward the 40% containment target.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Killable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Steady-state handoff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~70% adoption and hand the value loop to Tower.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Handoff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value and risk are sequenced with kill gates.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Iyer (Program Lead)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Medium · No open gaps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G1 — pilot value verification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CONTROLS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  ·  RISKS AND CONTROLS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monetisation seed gap and the transcript-privacy review are the two risks that can block approval — both have owners and dates.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monetisation seed gap (R1) and the transcript-privacy review (R2) are the two risks that can block approval. Both sit in the high-impact band, both have a named owner and a dated control.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48716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8 — RISK HEATMAP: LIKELIHOOD × IMPACT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0316" y="2615184"/>
            <a:ext cx="3752890" cy="3419856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332" y="2743200"/>
            <a:ext cx="3496858" cy="31638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00913" y="2487168"/>
            <a:ext cx="70238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 — ALL SIX RISKS, CONTROLS AND OWNERS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00913" y="2724912"/>
          <a:ext cx="7023854" cy="914400"/>
        </p:xfrm>
        <a:graphic>
          <a:graphicData uri="http://schemas.openxmlformats.org/drawingml/2006/table">
            <a:tbl>
              <a:tblPr/>
              <a:tblGrid>
                <a:gridCol w="2388110"/>
                <a:gridCol w="491670"/>
                <a:gridCol w="491670"/>
                <a:gridCol w="2247633"/>
                <a:gridCol w="140477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/ MITIGATION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  Cost-per-contact baseline is not captured — value stays a proxy and monetisation cannot be verified.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Tenant action item with a dated owner; build funding gated on it.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Brendan Fox (CS Ops)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  Transcript-use privacy review fails and removes agent-assist features — the value mechanism is lost.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Privacy review run ahead of the Design gate (milestone 2026-05-17).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Elena Fischer (AI Governance)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  Agent adoption falls short of the modelled curve — net value erodes from the 30/70/85% ramp.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Staged rollout by team, manager-enablement track, incentive re-pointing away from raw handle time.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Mariana Rojas (WFM Lead)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  CDP consolidation slips — intent / transcript data is not unified for Phase 0.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0 is foundational and gated (G0); build cannot start until data is unified.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CDO (Data Sponsor)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  NICE-vs-IT containment measurement discrepancy is not reconciled — the Tower baseline is wrong.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Reconciliation owned and dated (James Wright, due 2026-05-08).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James Wright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R6  NICE CXone integration is more brittle than scoped — integration effort overruns.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Conservative effort multiplier carried; Salesforce / AWS connectors are well understood.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 Architect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could fail or block the funding decision.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Elena Fischer (AI Governance)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sources · as of 2026-06-06 · confidence Medium · 1 open gap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Transcript-use privacy review (2026-05-17)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LEDGER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  ·  ASSUMPTION LEDGER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of the three case-moving assumptions are seed-gap proxies — validating them is the highest-leverage next step.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are ranked by how much the case moves if they are wrong. The two highest-ranked are seed-gap proxies — they stand in for absent tenant data and are the evidence asks that gate funding.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505456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ASSUMPTION LEDGER — ALL 6 RANKED ENTRIES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43200"/>
          <a:ext cx="11057839" cy="914400"/>
        </p:xfrm>
        <a:graphic>
          <a:graphicData uri="http://schemas.openxmlformats.org/drawingml/2006/table">
            <a:tbl>
              <a:tblPr/>
              <a:tblGrid>
                <a:gridCol w="552892"/>
                <a:gridCol w="3980822"/>
                <a:gridCol w="1879833"/>
                <a:gridCol w="1326941"/>
                <a:gridCol w="1326941"/>
                <a:gridCol w="199041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ASSUMPTION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SENSITIVITY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agent-handled contact volume is ~9.0M (benchmark for an $80B retailer) — used only to express value in operational hours.  [seed-gap proxy]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Iyer (Program Lead)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 proxy — seed gap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Fully-loaded cost per contact is ~$6.50 (benchmark proxy) until the tenant baseline due 2026-05-15 lands.  [seed-gap proxy]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Brendan Fox (CS Ops)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 proxy — seed gap (tenant baseline pending)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routing lifts containment ~12 points (28% → 40% target) — the KPI dictionary states this uplift target explicitly.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Iyer (Program Lead)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kpi:apex:018 stated target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Care agents reach 70% steady-state adoption by year 2; the WFM lead is on record preferring agent-assist over IVR replacement.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Mariana Rojas (WFM Lead)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telemetry — CC working group notes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transcript-use privacy review (2026-05-17 milestone) clears without scope cuts that remove agent-assist features.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Elena Fischer (AI Governance)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 milestone + AI Governance Council notes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Blended delivery rate card reflects market rates for AI build and integration roles.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David Okafor (Program Lead)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 rate card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every case-moving assumption has an owner.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Iyer (Program Lead)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source · as of 2026-06-06 · confidence Low · 2 open gaps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validation before the Design gate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  ·  EVIDENCE APPENDIX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coverage is 60% — six metrics are measured, four are declared seed gaps, none are invented.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coverage is 60% — 6 metrics are measured, sourced and dated; 4 are declared seed gaps. None are invented. The case is auditable end to end.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432304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METRICS — MEASURED, SOURCED, DATED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70048"/>
          <a:ext cx="11057839" cy="914400"/>
        </p:xfrm>
        <a:graphic>
          <a:graphicData uri="http://schemas.openxmlformats.org/drawingml/2006/table">
            <a:tbl>
              <a:tblPr/>
              <a:tblGrid>
                <a:gridCol w="2875038"/>
                <a:gridCol w="1769254"/>
                <a:gridCol w="3759665"/>
                <a:gridCol w="1326941"/>
                <a:gridCol w="13269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OF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Handle Time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 minutes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kpi:apex:019 (NICE CXone)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2026-04-30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Contact Center Containment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percent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kpi:apex:018 (NICE CXone)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2026-04-30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Call Resolution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 percent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kpi:apex:020 (NICE CXone)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2026-04-30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Utilization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 percent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kpi:apex:021 (NICE CXone)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2026-04-30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CSAT (post-interaction)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 score_out_of_5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kpi:apex:012 (Zendesk survey)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2026-04-30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 transfer rate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18.4 percent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 P2 baseline deliverable (Genesys routing export)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2026-05-03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4370832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B1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GAPS — DECLARED, NEVER BLANK, NEVER INVENTED</a:t>
            </a:r>
            <a:endParaRPr lang="en-US" sz="9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608576"/>
          <a:ext cx="11057839" cy="914400"/>
        </p:xfrm>
        <a:graphic>
          <a:graphicData uri="http://schemas.openxmlformats.org/drawingml/2006/table">
            <a:tbl>
              <a:tblPr/>
              <a:tblGrid>
                <a:gridCol w="2211568"/>
                <a:gridCol w="2875038"/>
                <a:gridCol w="1990411"/>
                <a:gridCol w="398082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IS MISSING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IMPACT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per contact (labour)  [seed gap]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recorded. Tenant action item "Capture cost-per-contact baseline" (owner Brendan Fox) is due 2026-05-15 — see operating telemetry.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Brendan Fox (CS Ops)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Blocks monetisation — without it the value range is a proxy, not a forecast. This is the gate-closing gap.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contact volume  [seed gap]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recorded in the KPI dictionary, telemetry, or the Move baseline. Needed to convert AHT/containment deltas into FTE-hours and dollars.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Iyer (Program Lead)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Cannot convert AHT / containment deltas into FTE-hours and dollars — value is expressed in operational hours until closed.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 mix (voice/chat/IVR split)  [seed gap]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Containment note references "IVR + chatbot" but no structured split is seeded.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Iyer (Program Lead)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Routing value differs by channel; the split bounds how the pilot is scoped.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error rate  [seed gap]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contact-centre quality-defect metric is seeded for Apex.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Iyer (Program Lead)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quality-defect baseline — a secondary value lever cannot be sized.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every claim back to a source or a declared gap.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Iyer (Program Lead)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source · as of 2026-04-30 · confidence Medium · 4 open gaps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seed gaps before build funding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AND ASKS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11  ·  RECOMMENDATION AND ASKS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shaping spend and the cost-per-contact baseline capture — hold the full build until the gap closes.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713232"/>
          </a:xfrm>
          <a:prstGeom prst="rect">
            <a:avLst/>
          </a:prstGeom>
          <a:solidFill>
            <a:srgbClr val="F7ECD6"/>
          </a:solidFill>
          <a:ln w="12700">
            <a:solidFill>
              <a:srgbClr val="7A4F0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83664"/>
            <a:ext cx="1069207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spc="100" kern="0" dirty="0">
                <a:solidFill>
                  <a:srgbClr val="7A4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  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shaping spend only — full autonomy is not yet fundable until the cost-per-contact gap is closed.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688336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11 — DECISION CHECKLIST: WHAT IS REQUESTED AT THIS GATE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44368"/>
          <a:ext cx="11057839" cy="914400"/>
        </p:xfrm>
        <a:graphic>
          <a:graphicData uri="http://schemas.openxmlformats.org/drawingml/2006/table">
            <a:tbl>
              <a:tblPr/>
              <a:tblGrid>
                <a:gridCol w="2875038"/>
                <a:gridCol w="1548097"/>
                <a:gridCol w="66347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ITEM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Shaping spend for Phase 0 design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 now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 intent / transcript unification design and model-gateway scoping — the foundational, no-regret work.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Cost-per-contact baseline capture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 now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Brendan Fox as owner, due 2026-05-15 — the single gate-closing evidence ask.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Transcript-use privacy review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 clear (milestone 2026-05-17) without cutting agent-assist features before the Design gate.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AI-routing build funding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 until the cost-per-contact baseline lands and the value range is no longer a proxy.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IVR-replacement / autonomous scope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funded — the chosen shape is agent-assist with human accountability retained.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5248656"/>
            <a:ext cx="11057839" cy="676656"/>
          </a:xfrm>
          <a:prstGeom prst="rect">
            <a:avLst/>
          </a:prstGeom>
          <a:solidFill>
            <a:srgbClr val="E8F0FA"/>
          </a:solidFill>
          <a:ln w="9525">
            <a:solidFill>
              <a:srgbClr val="0B4A9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5294376"/>
            <a:ext cx="10692079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 SPEND   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Shaping spend only — the full build investment range ($1.87M–$3.09M) is NOT requested at this gate.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funding decision requested now.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(Executive Sponsor)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Blocked · 4 open gaps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Re-present for build funding once the seed gap closes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AbarVa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Contact Center AI Routing — Costed Business-Case Pack</dc:title>
  <dc:subject>Costed Business-Case Pack</dc:subject>
  <dc:creator>AbarVa · Moves Expert Kernel</dc:creator>
  <cp:lastModifiedBy>AbarVa · Moves Expert Kernel</cp:lastModifiedBy>
  <cp:revision>1</cp:revision>
  <dcterms:created xsi:type="dcterms:W3CDTF">2026-06-06T18:39:34Z</dcterms:created>
  <dcterms:modified xsi:type="dcterms:W3CDTF">2026-06-06T18:39:34Z</dcterms:modified>
</cp:coreProperties>
</file>